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233A"/>
          </a:solidFill>
          <a:ln w="1270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52144"/>
            <a:ext cx="16459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PROJETO SINALA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8686800" cy="1463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Da detecção de sinais</a:t>
            </a:r>
            <a:br/>
            <a:r>
              <a:rPr b="1">
                <a:solidFill>
                  <a:srgbClr val="FFFFFF"/>
                </a:solidFill>
                <a:latin typeface="Aptos Display"/>
              </a:rPr>
              <a:t>à tradução em tempo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37560"/>
            <a:ext cx="7772400" cy="228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8686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DD7E1"/>
                </a:solidFill>
                <a:latin typeface="Aptos"/>
              </a:rPr>
              <a:t>Revisão de Literatura e posicionamento metodológico do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8686800" cy="457200"/>
          </a:xfrm>
          <a:prstGeom prst="rect">
            <a:avLst/>
          </a:prstGeom>
          <a:solidFill>
            <a:srgbClr val="0F233A"/>
          </a:solidFill>
          <a:ln w="1270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8321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Aptos"/>
              </a:rPr>
              <a:t>10 Referências Brasileiras  •  Modelos Explícitos  •  IEEE, ACM, Elsevier, Springer e SBC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DD7E1"/>
                </a:solidFill>
                <a:latin typeface="Aptos"/>
              </a:rPr>
              <a:t>Daniel Maffezzoli • AC Visão Computacional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Problema e estratégia do SINALA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Uma evolução em três níveis, do reconhecimento isolado à tradução (10 estudos analisados)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063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89888"/>
            <a:ext cx="265176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233A"/>
                </a:solidFill>
                <a:latin typeface="Aptos"/>
              </a:rPr>
              <a:t>10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651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Aptos"/>
              </a:rPr>
              <a:t>brasileiros com deficiência auditiva citados na revisão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Barreira diária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26974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Libras é uma língua visuoespacial independente (Lei 10.436/02); barreiras severas em serviços, saúde e educação.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73152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13048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Captura acessível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87368"/>
            <a:ext cx="26974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Evitar luvas caras, marcadores e sensores proprietários; priorizar câmeras ópticas RGB comuns.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30632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73152" cy="10972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47488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Robustez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21808"/>
            <a:ext cx="269748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0F233A"/>
                </a:solidFill>
                <a:latin typeface="Aptos"/>
              </a:rPr>
              <a:t>Luz, oclusões, fundos e pessoas diferentes desafiam o modelo; generalização inter-sinalizador é a meta.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280160"/>
            <a:ext cx="41148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1F4E79"/>
                </a:solidFill>
                <a:latin typeface="Aptos"/>
              </a:rPr>
              <a:t>ROTEIRO INCREMENTAL DO SINALA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1645920"/>
            <a:ext cx="22860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874519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192938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331720"/>
            <a:ext cx="19202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MVP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788920"/>
            <a:ext cx="1965960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Landmarks + GRU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Sinais isolados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Split inter-sinalizador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Estabilização temporal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1645920"/>
            <a:ext cx="22860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1874519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92938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331720"/>
            <a:ext cx="19202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Sinais contínuos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788920"/>
            <a:ext cx="1965960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Segmentação temporal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Mãos + pose + face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Fusão multimodal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Inferência contínua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1645920"/>
            <a:ext cx="22860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1645920"/>
            <a:ext cx="2286000" cy="54864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19" y="1874519"/>
            <a:ext cx="411480" cy="292608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89719" y="192938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2331720"/>
            <a:ext cx="19202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Tradução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2788920"/>
            <a:ext cx="1965960" cy="20116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Glosas → Português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Alinhamento semântico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Modelos de linguagem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0F233A"/>
                </a:solidFill>
                <a:latin typeface="Aptos"/>
              </a:rPr>
              <a:t>•  Texto/voz em tempo real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5166360"/>
            <a:ext cx="7223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69080" y="5166360"/>
            <a:ext cx="73152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5285232"/>
            <a:ext cx="68122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Aptos"/>
              </a:rPr>
              <a:t>Princípio Orientador do SINALA: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532120"/>
            <a:ext cx="6812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Avançar em complexidade sem sacrificar generalização inter-sinalizador e latência em tempo real.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Furtado, de Oliveira e Shirmohammadi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I2MTC • IME / LNCC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Interactive and Markerless Visual Recognition of Brazilian Sign Language Alphabet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38988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389888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SEM MARCADORES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1188720"/>
            <a:ext cx="4520793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1234440"/>
            <a:ext cx="4337913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Descritores de Contorno (CDD) + Distância Euclidiana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Acessibilidade começa na 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Câmera RGB convencional, sem luvas ou sensores vestíveis.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Foco na dactilologia de Libras com descritores de contorno (CDD).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Robustez geométrica comprovada a variações de escala e distância.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Reconhecer Libras real exige capturar movimento e tempo — não apenas o contorno estático das mãos.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96,05%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reportada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+6,4%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vs. cinco métodos correlatos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premissa fundamental de um sistema assistivo natural, barato e sem instrumentação invasiva para uso em webcam comum.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Gestos estáticos do alfabeto não representam sinais dinâmicos completos: falta modelagem temporal de trajetórias.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Feliciano, Briano, Prudêncio e Alves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CISTI • IFPE / UFPE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Recognition of Static or Dynamic LIBRAS Words in Complex Background Environments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901952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90195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LANDMARKS ARTICULARES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188720"/>
            <a:ext cx="4718303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34440"/>
            <a:ext cx="4535423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MediaPipe Hands + Perceptron Multicamadas (MLP / Keras)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Landmarks reduzem o ruído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Pipeline em dois estágios: OpenCV → MediaPipe → TensorFlow / Keras.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Extração de 21 coordenadas esqueléticas (x, y, z) por mão em tempo real.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Os pontos articulares isolam o sinalizador de ruídos visuais de fundo e cores de parede.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Buffer temporal de estabilidade e máscaras de presença são vitais para mitigar oscilações momentâneas do rastreador.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92–98%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normal / laboratório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baixa luminosidade preservada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arquitetura em dois estágios: transformar pixels em esqueletos articulares antes da classificação neural.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Motion blur em gestos bruscos causa perda momentânea de tracking e fundos severamente poluídos derrubam para ~82%.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Arcanjo, Coelho, Guimarães et al.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WebMedia • PUC Minas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Automatic Time-Aware Recognition of Brazilian Sign Language Based on Dynamic Time Warping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755648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755648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ESTUDO MAIS CRÍTICO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188720"/>
            <a:ext cx="4257446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234440"/>
            <a:ext cx="4074566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MediaPipe Holistic + Ângulos 3D + FastDTW (O(N))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O split muda a história do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Mesmo dataset do MVP do SINALA: MINDS-Libras • 20 classes • 1.200 vídeos gravados.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MediaPipe Holistic extrai 21 marcos por mão e 33 marcos corporais.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Cálculo de ângulos 3D entre falanges dos dedos para classificar por distância temporal elástica.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adota separação estrita por sinalizador como compromisso metodológico inegociável.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98% ± 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split aleatório (ilusão de precisão)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86% ± 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LOOCV por sinalizador (generalização real)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prova empírica definitiva de que misturar vídeos da mesma pessoa no treino e no teste gera acurácia inflada.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Classes ambíguas com mãos similares (Banheiro × Acontecer) caem para 47% em validação rigorosa.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de Castro, Guerra e Guimarães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Elsevier ESWA • UFMG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Automatic Translation of Sign Language with Multi-Stream 3D CNN and Generation of Artificial Depth Maps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682495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682495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ESPAÇO-TEMPORAL 3D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456" y="1188720"/>
            <a:ext cx="43891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34440"/>
            <a:ext cx="42062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Multi-Stream 3D CNN + GAN (Profundidade Sintética)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Mais riqueza espacial — por um preço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Pesquisa do laboratório da UFMG criador da base MINDS-Libras.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Redes Generativas Adversariais (GANs) geram mapas artificiais de profundidade a partir de RGB puro.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3D CNN multi-stream combina fluxos de mãos, face, velocidades e profundidade sintética.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No SINALA, os landmarks vetoriais (x,y,z) fornecem informação 3D consumindo frações de milissegundo de CPU.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91% ± 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em 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0,90 ± 0,08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F1-Score balanceado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confirmação de que a terceira dimensão (profundidade) desempata sobreposições de mãos em frente ao peito.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Redes 3D CNN + GANs exigem GPUs dedicadas pesadas e impedem execução a 30 FPS em CPU modesta.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Rodrigues, Barbosa, Fiera e Oliveira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ENIAC • UNESC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Dynamic Sign Recognition in Brazilian Sign Language Through Convolutional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536192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53619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SINAIS DINÂMICOS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188720"/>
            <a:ext cx="5376672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34440"/>
            <a:ext cx="519379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Benchmark de 5 CNNs 2D (ResNet18 vs. Alex/VGG/Inception/DenseNet)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CNNs 2D encontram um teto em sinais dinâmicos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Benchmark comparativo focado em sinais de Libras que dependem de movimento no tempo.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 o impacto da profundidade da rede versus sobreajuste em conjuntos moderados.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ResNet18 superou modelos maiores (DenseNet121 e InceptionV3) graças às conexões residuais.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acopla obrigatoriamente uma camada recorrente (GRU) para superar o teto de 74% em sinais dinâmicos.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74,29%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máxima com ResNet18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&lt; 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redes profundas por overfitting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evidência empírica recente de que tratar vídeo como frames 2D estáticos bate em um limite intransponível.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Modelos puramente convolucionais de imagem perdem a cronologia interna, aceleração e direção da mão.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Pereira, Santana, Martins e Corrêa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SBC WICS • UFPel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Semantic Vector Space Mapping Between Brazilian Portuguese and Libras Glosses Using Siamese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682495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682495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NÍVEL 3 • TRADUÇÃO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05456" y="1188720"/>
            <a:ext cx="4849977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234440"/>
            <a:ext cx="4667097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Rede Siamesa com BERTimbau + MultipleNegativesRankingLoss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Reconhecer não basta: é preciso traduzir sentido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Espaço vetorial semântico compartilhado entre glosas de Libras e sentenças em português brasileiro.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Ajuste fino contrastivo sobre modelo pré-treinado BERTimbau com mean pooling.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Objetivo: aproximar frases semanticamente equivalentes, respeitando a estrutura gramatical da Libras.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classificador visual do SINALA é o motor de percepção que fornecerá os sinais de entrada para esse alinhador.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98,77%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Recall@1 no ranking de sentenças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99,38%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Mean Reciprocal Rank (MRR)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arquitetura em modelo de linguagem para converter sequências de sinais em sentenças em português correto.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Opera no nível textual (glosas ↔ português), dependendo de um extrator visual prévio para produzir as glosas.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da Silva, Araujo, do Rêgo e Brandão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ACM WebMedia • UFPB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 Two-Stream Model Based on 3D Convolutional Neural Networks for the Recognition of Brazilian Sign Language in the Health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46304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4630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LIBRAS NA SAÚDE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188720"/>
            <a:ext cx="4981651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234440"/>
            <a:ext cx="4798771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Two-Stream 3D CNN (Fluxo Espacial RGB + Fluxo Óptico TV-L1)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Duas correntes: aparência e movimento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Reconhecimento aplicado a sinais médicos e clínicos de Libras no domínio da saúde.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Arquitetura de duas correntes 3D CNN: corrente espacial (frames RGB) e temporal (fluxo óptico TV-L1).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Validação cruzada leave-one-signer-out sobre vídeos gravados com profissionais de saúde.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No SINALA, as derivadas temporais dos próprios marcos anatômicos substituem o fluxo óptico com custo nulo de CPU.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88,9%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em sinais clínicos de saúde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+5,2%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vs. 3D CNN de corrente única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relevância de separar a informação de aparência estática da mão da dinâmica de velocidade do sinal.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cálculo do fluxo óptico denso (TV-L1) introduz alto custo computacional por quadro, impedindo tempo real leve.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Passos, Araujo, Gois e de Lima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TCSI • CEFET/RJ / UFF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 Gait Energy Image-Based System for Brazilian Sign Language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2267712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226771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COMPRESSÃO ESPAÇO-TEMPORAL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188720"/>
            <a:ext cx="43891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234440"/>
            <a:ext cx="420624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Gait Energy Image (GEI) + PCA/LDA + SVM / LightGBM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Colapso espaço-temporal de alta densidade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Condensa sequências temporais de silhuetas em uma única imagem de energia acumulada média (GEI).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Redução de dimensionalidade via PCA + LDA para classificação por SVM / LightGBM.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Transforma o processamento de sequências de vídeo em classificação estática ultrarrápida.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Redes recorrentes (como a GRU) são indispensáveis no SINALA para distinguir sinais com trajetórias simétricas.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98,8%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em sinais isolados de 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99,4%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redução do volume de dados brutos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eficiência de colapsar redundâncias temporais em representações compactas para baratear a classificação.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imagem de energia média perde a cronologia interna do gesto (movimentos reversíveis geram a mesma imagem).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Rezende, Almeida e Guimarães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Springer NCA • UFMG / IFMG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Development and Validation of a Brazilian Sign Language Database for Human Gesture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536192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53619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DATASET CANÔNICO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9152" y="1188720"/>
            <a:ext cx="5376672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34440"/>
            <a:ext cx="519379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CNNs 2D e 3D Multimodais (InceptionV3 / VGG16 / 3D-CNN com RGB-D)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O alicerce público do MINDS-Libras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Criação e validação do principal dataset público de sinais isolados de Libras do país.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1.200 vídeos gravados em estúdio com 12 sinalizadores em 20 classes semânticas.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Avaliação comparativa de arquiteturas convolucionais clássicas com canais RGB e profundidade física (Kinect v2).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O SINALA extrai a tridimensionalidade dos marcos puramente a partir de vídeo RGB de webcam via MediaPipe.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93% ± 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com fusão RGB + Depth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20 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1.200 vídeos gravados por 12 sinalizadores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vocabulário oficial, as 20 classes padronizadas e a base de vídeos que sustentam o treinamento do SINALA.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O melhor desempenho dependia do canal de profundidade capturado pelo sensor físico Kinect v2 (descontinuado).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6400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64008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Aptos"/>
              </a:rPr>
              <a:t>REF.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347472"/>
            <a:ext cx="6400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50" b="1">
                <a:solidFill>
                  <a:srgbClr val="0F233A"/>
                </a:solidFill>
                <a:latin typeface="Aptos"/>
              </a:rPr>
              <a:t>Rego, de Morais e Almeida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384048"/>
            <a:ext cx="3502152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40" b="0">
                <a:solidFill>
                  <a:srgbClr val="64748B"/>
                </a:solidFill>
                <a:latin typeface="Aptos"/>
              </a:rPr>
              <a:t>IEEE Access • UFC / IFCE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94944"/>
            <a:ext cx="10725912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Brazilian Sign Language Recognition Using Deep Learning Based on Fast Fourier Transform and Kinematic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24128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901952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901952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1">
                <a:solidFill>
                  <a:srgbClr val="0F233A"/>
                </a:solidFill>
                <a:latin typeface="Aptos"/>
              </a:rPr>
              <a:t>DERIVADAS CINEMÁTICAS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188720"/>
            <a:ext cx="5310835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34440"/>
            <a:ext cx="5127955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1">
                <a:solidFill>
                  <a:srgbClr val="1F4E79"/>
                </a:solidFill>
                <a:latin typeface="Aptos"/>
              </a:rPr>
              <a:t>MODELO: LSTM / BiLSTM + FFT Adaptativa de Janela Deslizante + Cinemática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166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233A"/>
                </a:solidFill>
                <a:latin typeface="Aptos"/>
              </a:rPr>
              <a:t>Frequência e cinemática nas trajetórias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5166360" cy="2468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Enriquecimento de trajetórias esqueléticas com derivadas de velocidade e aceleração articular.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Extração de coeficientes espectrais em frequência via Fast Fourier Transform (FFT) adaptativa.</a:t>
            </a:r>
          </a:p>
          <a:p>
            <a:pPr>
              <a:spcAft>
                <a:spcPts val="600"/>
              </a:spcAft>
            </a:pPr>
            <a:r>
              <a:rPr sz="960">
                <a:solidFill>
                  <a:srgbClr val="0F233A"/>
                </a:solidFill>
                <a:latin typeface="Aptos"/>
              </a:rPr>
              <a:t>•  Avaliação no MINDS-Libras comparando redes recorrentes com e sem características cinemáticas.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516636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508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8006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LIÇÃO-CHAVE PARA O SINALA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48006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233A"/>
                </a:solidFill>
                <a:latin typeface="Aptos"/>
              </a:rPr>
              <a:t>A memória interna da GRU no SINALA captura o ritmo temporal das transições com latência de apenas 1,4 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1188720"/>
            <a:ext cx="73152" cy="1051560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92,0%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acurácia global no MINDS-Libras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1188720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42832" y="1188720"/>
            <a:ext cx="73152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298448"/>
            <a:ext cx="22402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+8,0%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719072"/>
            <a:ext cx="224028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Aptos"/>
              </a:rPr>
              <a:t>ganho sobre a LSTM padrão (84%)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423160"/>
            <a:ext cx="530352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423160"/>
            <a:ext cx="73152" cy="1783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6032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O que o SINALA herda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comprovação de que derivadas temporais de movimento aumentam a discriminação de sinais complexos.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4389120"/>
            <a:ext cx="5303520" cy="1783080"/>
          </a:xfrm>
          <a:prstGeom prst="rect">
            <a:avLst/>
          </a:prstGeom>
          <a:solidFill>
            <a:srgbClr val="FFFDF5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4389120"/>
            <a:ext cx="73152" cy="17830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26280"/>
            <a:ext cx="4892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233A"/>
                </a:solidFill>
                <a:latin typeface="Aptos"/>
              </a:rPr>
              <a:t>Limitação que precisamos superar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18888"/>
            <a:ext cx="48920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0F233A"/>
                </a:solidFill>
                <a:latin typeface="Aptos"/>
              </a:rPr>
              <a:t>A janela deslizante da FFT impõe latência de acumulação de amostras antes de produzir os coeficientes.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O que a literatura constrói em conjunto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Quadro sinótico dos 10 estudos brasileiros analisados com o MODELO UTILIZADO em destaque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292608"/>
          </a:xfrm>
          <a:prstGeom prst="rect">
            <a:avLst/>
          </a:prstGeom>
          <a:solidFill>
            <a:srgbClr val="0F233A"/>
          </a:solidFill>
          <a:ln w="12700">
            <a:solidFill>
              <a:srgbClr val="0F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35024"/>
            <a:ext cx="16459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35024"/>
            <a:ext cx="16459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DOMÍNIO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35024"/>
            <a:ext cx="29260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1F4E79"/>
                </a:solidFill>
                <a:latin typeface="Aptos"/>
              </a:rPr>
              <a:t>MODELO UTILIZADO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35024"/>
            <a:ext cx="12801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RESULTADO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35024"/>
            <a:ext cx="26517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CONTRIBUIÇÃO AO SINALA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591056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82496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Furtado 2023 [IEEE]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682496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Alfabeto Libras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82496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Contornos CDD + Distância Euclidiana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82496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96,05%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82496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Base de captura markerless em webcam comum.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993392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84832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Feliciano 2023 [IEEE]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084832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Palavras Libras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84832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MediaPipe Hands + MLP / Keras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84832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92–98%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84832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Validação de landmarks contra ruídos de fundo.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395728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487168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Arcanjo 2024 [SBC]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487168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 (20 cl.)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487168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MediaPipe + Ângulos 3D + FastDTW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48716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86% LOOCV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48716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Diretriz inegociável de split estrito por sinalizador.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798064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889504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Castro 2023 [Elsevier]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2889504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Libras Contínuo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2889504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Multi-Stream 3D CNN + GAN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889504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91% (F1 0,90)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889504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Inspiração 3D; optamos por landmarks leves em CPU.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200400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291840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Rodrigues 2025 [SBC]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291840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Sinais Dinâmicos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3291840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Benchmark de 5 CNNs 2D (ResNet18)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291840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74,29%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291840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Evidência de que redes 2D exigem camada temporal.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602736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694176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Pereira 2026 [SBC]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694176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Glosa ↔ Português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3694176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BERTimbau Siamês + Contrastive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694176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R@1 98,77%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694176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Fundamentação do Nível 3 de tradução semântica.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005072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096511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Silva 2020 [ACM]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096511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Libras na Saúde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4096511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Two-Stream 3D CNN (RGB + Flow TV-L1)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096511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88,9%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096511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Relevância de separar aparência e dinâmica de fluxo.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407408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498848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Passos 2021 [IEEE]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0" y="4498848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Compressão Vídeo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97680" y="4498848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Gait Energy Image (GEI) + PCA/LDA + SVM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498848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98,8%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498848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Estratégia de colapsar redundâncias temporais.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809744"/>
            <a:ext cx="1072591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4901184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Rezende 2021 [Springer]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4901184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901184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CNNs 2D/3D Multimodais (RGB + Depth)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901184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93% ± 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901184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Dataset oficial e vocabulário adotados no SINALA.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212080"/>
            <a:ext cx="107259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303520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0F233A"/>
                </a:solidFill>
                <a:latin typeface="Aptos"/>
              </a:rPr>
              <a:t>Rego 2025 [IEEE]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320" y="5303520"/>
            <a:ext cx="164592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MINDS-Libras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5303520"/>
            <a:ext cx="292608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LSTM/BiLSTM + FFT Adaptativa + Cinemática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303520"/>
            <a:ext cx="12801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19" b="1">
                <a:solidFill>
                  <a:srgbClr val="266E6E"/>
                </a:solidFill>
                <a:latin typeface="Aptos"/>
              </a:rPr>
              <a:t>92,0%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5303520"/>
            <a:ext cx="265176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0F233A"/>
                </a:solidFill>
                <a:latin typeface="Aptos"/>
              </a:rPr>
              <a:t>Enriquecimento de trajetórias com derivadas de movimento.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687568"/>
            <a:ext cx="10725912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5687568"/>
            <a:ext cx="73152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5742432"/>
            <a:ext cx="22860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Aptos"/>
              </a:rPr>
              <a:t>Conclusão Geral da Revisão: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" y="5943600"/>
            <a:ext cx="103784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233A"/>
                </a:solidFill>
                <a:latin typeface="Aptos"/>
              </a:rPr>
              <a:t>O SINALA se posiciona no ponto de convergência ótimo: landmarks anatômicos leves (MediaPipe), modelagem temporal explícita em CPU (GRU) e validação rigorosa inter-sinalizador.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233A"/>
                </a:solidFill>
                <a:latin typeface="Aptos"/>
              </a:rPr>
              <a:t>Posicionamento do projeto SINALA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68096"/>
            <a:ext cx="9601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>
                <a:solidFill>
                  <a:srgbClr val="64748B"/>
                </a:solidFill>
                <a:latin typeface="Aptos"/>
              </a:rPr>
              <a:t>O diferencial não é 'ter 98%'. É saber exatamente o que a métrica significa.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290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5506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0175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Generalização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6324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Separar treino e teste por sinalizador para medir desempenho com indivíduos nunca vistos. A literatura (Arcanjo et al.) prova que o split aleatório infla artificialmente os resultados.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42900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600200"/>
            <a:ext cx="41148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5506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0175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Baixo Custo &amp; Tempo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23160"/>
            <a:ext cx="306324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Priorizar vetores esqueléticos + GRU leve em CPU para manter o sistema viável em computadores comuns (30 FPS / 1,4 ms por predição), dispensando hardware caro.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417320"/>
            <a:ext cx="34290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17320"/>
            <a:ext cx="3429000" cy="54864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600200"/>
            <a:ext cx="411480" cy="292608"/>
          </a:xfrm>
          <a:prstGeom prst="rect">
            <a:avLst/>
          </a:prstGeom>
          <a:solidFill>
            <a:srgbClr val="266E6E"/>
          </a:solidFill>
          <a:ln w="12700">
            <a:solidFill>
              <a:srgbClr val="2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1655064"/>
            <a:ext cx="411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057400"/>
            <a:ext cx="301752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233A"/>
                </a:solidFill>
                <a:latin typeface="Aptos"/>
              </a:rPr>
              <a:t>Evolução Modular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423160"/>
            <a:ext cx="306324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233A"/>
                </a:solidFill>
                <a:latin typeface="Aptos"/>
              </a:rPr>
              <a:t>Começar com sinais isolados e avançar de forma planejada para continuidade, multimodalidade e tradução semântica via modelos de linguagem (Pereira et al.).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107259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91440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297680"/>
            <a:ext cx="137160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343400"/>
            <a:ext cx="137160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Aptos"/>
              </a:rPr>
              <a:t>MODELO SINALA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79392"/>
            <a:ext cx="86868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233A"/>
                </a:solidFill>
                <a:latin typeface="Aptos"/>
              </a:rPr>
              <a:t>MediaPipe Hands (128 features)  +  GRU Recorrente (Dropout / AdamW)  +  Buffer de Histerese Temporal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663440"/>
            <a:ext cx="86868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Operação 100% em CPU convencional a 29,8 FPS  |  Latência de inferência de 1,4 ms  |  Base técnica para transição à Libras contínua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27432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233A"/>
                </a:solidFill>
                <a:latin typeface="Aptos"/>
              </a:rPr>
              <a:t>Obrigado!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5029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SINALA — Revisão de Literatura</dc:title>
  <dc:subject>Revisão de literatura e posicionamento metodológico do MVP</dc:subject>
  <dc:creator>Daniel Maffezzoli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