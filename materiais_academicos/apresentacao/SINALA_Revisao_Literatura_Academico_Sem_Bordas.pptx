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233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645920" cy="292608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52144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PROJETO SINALA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868680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Da detecção de sinais</a:t>
            </a:r>
            <a:br/>
            <a:r>
              <a:rPr b="1">
                <a:solidFill>
                  <a:srgbClr val="FFFFFF"/>
                </a:solidFill>
                <a:latin typeface="Aptos Display"/>
              </a:rPr>
              <a:t>à tradução em tempo real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337560"/>
            <a:ext cx="7772400" cy="22860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CDD7E1"/>
                </a:solidFill>
                <a:latin typeface="Aptos"/>
              </a:rPr>
              <a:t>Revisão de Literatura e posicionamento metodológico do MVP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069080"/>
            <a:ext cx="8686800" cy="457200"/>
          </a:xfrm>
          <a:prstGeom prst="rect">
            <a:avLst/>
          </a:prstGeom>
          <a:solidFill>
            <a:srgbClr val="0F233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87952"/>
            <a:ext cx="8321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F4E79"/>
                </a:solidFill>
                <a:latin typeface="Aptos"/>
              </a:rPr>
              <a:t>10 Referências Brasileiras  •  Modelos Explícitos  •  IEEE, ACM, Elsevier, Springer e SBC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8932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CDD7E1"/>
                </a:solidFill>
                <a:latin typeface="Aptos"/>
              </a:rPr>
              <a:t>Daniel Maffezzoli • AC Visão Computacional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Problema e estratégia do SINALA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68096"/>
            <a:ext cx="96012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0">
                <a:solidFill>
                  <a:srgbClr val="64748B"/>
                </a:solidFill>
                <a:latin typeface="Aptos"/>
              </a:rPr>
              <a:t>Uma evolução em três níveis, do reconhecimento isolado à tradução (10 estudos analisados)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3063240" cy="105156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73152" cy="1051560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389888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233A"/>
                </a:solidFill>
                <a:latin typeface="Aptos"/>
              </a:rPr>
              <a:t>10 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40" b="0">
                <a:solidFill>
                  <a:srgbClr val="64748B"/>
                </a:solidFill>
                <a:latin typeface="Aptos"/>
              </a:rPr>
              <a:t>brasileiros com deficiência auditiva citados na revisão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68880"/>
            <a:ext cx="3063240" cy="109728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73152" cy="1097280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78608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233A"/>
                </a:solidFill>
                <a:latin typeface="Aptos"/>
              </a:rPr>
              <a:t>Barreira diária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52928"/>
            <a:ext cx="26974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40" b="0">
                <a:solidFill>
                  <a:srgbClr val="0F233A"/>
                </a:solidFill>
                <a:latin typeface="Aptos"/>
              </a:rPr>
              <a:t>Libras é uma língua visuoespacial independente (Lei 10.436/02); barreiras severas em serviços, saúde e educação.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03320"/>
            <a:ext cx="3063240" cy="109728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703320"/>
            <a:ext cx="73152" cy="1097280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13048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233A"/>
                </a:solidFill>
                <a:latin typeface="Aptos"/>
              </a:rPr>
              <a:t>Captura acessível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087368"/>
            <a:ext cx="26974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40" b="0">
                <a:solidFill>
                  <a:srgbClr val="0F233A"/>
                </a:solidFill>
                <a:latin typeface="Aptos"/>
              </a:rPr>
              <a:t>Evitar luvas caras, marcadores e sensores proprietários; priorizar câmeras ópticas RGB comuns.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937760"/>
            <a:ext cx="3063240" cy="109728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937760"/>
            <a:ext cx="73152" cy="1097280"/>
          </a:xfrm>
          <a:prstGeom prst="rect">
            <a:avLst/>
          </a:prstGeom>
          <a:solidFill>
            <a:srgbClr val="59636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047488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233A"/>
                </a:solidFill>
                <a:latin typeface="Aptos"/>
              </a:rPr>
              <a:t>Robustez real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321808"/>
            <a:ext cx="26974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40" b="0">
                <a:solidFill>
                  <a:srgbClr val="0F233A"/>
                </a:solidFill>
                <a:latin typeface="Aptos"/>
              </a:rPr>
              <a:t>Luz, oclusões, fundos e pessoas diferentes desafiam o modelo; generalização inter-sinalizador é a meta.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1280160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F4E79"/>
                </a:solidFill>
                <a:latin typeface="Aptos"/>
              </a:rPr>
              <a:t>ROTEIRO INCREMENTAL DO SINALA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69080" y="1645920"/>
            <a:ext cx="2286000" cy="333756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69080" y="1645920"/>
            <a:ext cx="2286000" cy="54864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60" y="1874519"/>
            <a:ext cx="411480" cy="292608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1929384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233172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233A"/>
                </a:solidFill>
                <a:latin typeface="Aptos"/>
              </a:rPr>
              <a:t>MVP atual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2788920"/>
            <a:ext cx="196596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0F233A"/>
                </a:solidFill>
                <a:latin typeface="Aptos"/>
              </a:rPr>
              <a:t>•  Landmarks + GRU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F233A"/>
                </a:solidFill>
                <a:latin typeface="Aptos"/>
              </a:rPr>
              <a:t>•  Sinais isolados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F233A"/>
                </a:solidFill>
                <a:latin typeface="Aptos"/>
              </a:rPr>
              <a:t>•  Split inter-sinalizador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F233A"/>
                </a:solidFill>
                <a:latin typeface="Aptos"/>
              </a:rPr>
              <a:t>•  Estabilização temporal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1645920"/>
            <a:ext cx="2286000" cy="333756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37960" y="1645920"/>
            <a:ext cx="2286000" cy="54864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20840" y="1874519"/>
            <a:ext cx="411480" cy="292608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1929384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233172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233A"/>
                </a:solidFill>
                <a:latin typeface="Aptos"/>
              </a:rPr>
              <a:t>Sinais contínuos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2788920"/>
            <a:ext cx="196596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0F233A"/>
                </a:solidFill>
                <a:latin typeface="Aptos"/>
              </a:rPr>
              <a:t>•  Segmentação temporal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F233A"/>
                </a:solidFill>
                <a:latin typeface="Aptos"/>
              </a:rPr>
              <a:t>•  Mãos + pose + face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F233A"/>
                </a:solidFill>
                <a:latin typeface="Aptos"/>
              </a:rPr>
              <a:t>•  Fusão multimodal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F233A"/>
                </a:solidFill>
                <a:latin typeface="Aptos"/>
              </a:rPr>
              <a:t>•  Inferência contínua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06840" y="1645920"/>
            <a:ext cx="2286000" cy="333756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06840" y="1645920"/>
            <a:ext cx="2286000" cy="54864"/>
          </a:xfrm>
          <a:prstGeom prst="rect">
            <a:avLst/>
          </a:prstGeom>
          <a:solidFill>
            <a:srgbClr val="266E6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89719" y="1874519"/>
            <a:ext cx="411480" cy="292608"/>
          </a:xfrm>
          <a:prstGeom prst="rect">
            <a:avLst/>
          </a:prstGeom>
          <a:solidFill>
            <a:srgbClr val="266E6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9719" y="1929384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19" y="233172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233A"/>
                </a:solidFill>
                <a:latin typeface="Aptos"/>
              </a:rPr>
              <a:t>Tradução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19" y="2788920"/>
            <a:ext cx="196596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0F233A"/>
                </a:solidFill>
                <a:latin typeface="Aptos"/>
              </a:rPr>
              <a:t>•  Glosas → Português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F233A"/>
                </a:solidFill>
                <a:latin typeface="Aptos"/>
              </a:rPr>
              <a:t>•  Alinhamento semântico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F233A"/>
                </a:solidFill>
                <a:latin typeface="Aptos"/>
              </a:rPr>
              <a:t>•  Modelos de linguagem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F233A"/>
                </a:solidFill>
                <a:latin typeface="Aptos"/>
              </a:rPr>
              <a:t>•  Texto/voz em tempo real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69080" y="5166360"/>
            <a:ext cx="7223760" cy="86868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69080" y="5166360"/>
            <a:ext cx="73152" cy="868680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97680" y="5285232"/>
            <a:ext cx="6812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Aptos"/>
              </a:rPr>
              <a:t>Princípio Orientador do SINALA: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5532120"/>
            <a:ext cx="6812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233A"/>
                </a:solidFill>
                <a:latin typeface="Aptos"/>
              </a:rPr>
              <a:t>Avançar em complexidade sem sacrificar generalização inter-sinalizador e latência em tempo real.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46520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640080" cy="256032"/>
          </a:xfrm>
          <a:prstGeom prst="rect">
            <a:avLst/>
          </a:prstGeom>
          <a:solidFill>
            <a:srgbClr val="F1F5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1">
                <a:solidFill>
                  <a:srgbClr val="1F4E79"/>
                </a:solidFill>
                <a:latin typeface="Aptos"/>
              </a:rPr>
              <a:t>REF.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34747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F233A"/>
                </a:solidFill>
                <a:latin typeface="Aptos"/>
              </a:rPr>
              <a:t>Furtado, de Oliveira e Shirmohammadi (2023)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384048"/>
            <a:ext cx="350215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0">
                <a:solidFill>
                  <a:srgbClr val="64748B"/>
                </a:solidFill>
                <a:latin typeface="Aptos"/>
              </a:rPr>
              <a:t>IEEE I2MTC • IME / LNCC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94944"/>
            <a:ext cx="1072591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Interactive and Markerless Visual Recognition of Brazilian Sign Language Alphabet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24128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1389888" cy="237744"/>
          </a:xfrm>
          <a:prstGeom prst="rect">
            <a:avLst/>
          </a:prstGeom>
          <a:solidFill>
            <a:srgbClr val="F1F5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138988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1">
                <a:solidFill>
                  <a:srgbClr val="0F233A"/>
                </a:solidFill>
                <a:latin typeface="Aptos"/>
              </a:rPr>
              <a:t>SEM MARCADORES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12848" y="1188720"/>
            <a:ext cx="4520793" cy="237744"/>
          </a:xfrm>
          <a:prstGeom prst="rect">
            <a:avLst/>
          </a:prstGeom>
          <a:solidFill>
            <a:srgbClr val="EFF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04288" y="1234440"/>
            <a:ext cx="4337913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F4E79"/>
                </a:solidFill>
                <a:latin typeface="Aptos"/>
              </a:rPr>
              <a:t>MODELO: Descritores de Contorno (CDD) + Distância Euclidiana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554480"/>
            <a:ext cx="5166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233A"/>
                </a:solidFill>
                <a:latin typeface="Aptos"/>
              </a:rPr>
              <a:t>Acessibilidade começa na captura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5166360" cy="2468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Câmera RGB convencional, sem luvas ou sensores vestíveis.</a:t>
            </a:r>
          </a:p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Foco na dactilologia de Libras com descritores de contorno (CDD).</a:t>
            </a:r>
          </a:p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Robustez geométrica comprovada a variações de escala e distância.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709160"/>
            <a:ext cx="5166360" cy="150876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709160"/>
            <a:ext cx="73152" cy="1508760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846320"/>
            <a:ext cx="4800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LIÇÃO-CHAVE PARA O SINALA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102352"/>
            <a:ext cx="48006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233A"/>
                </a:solidFill>
                <a:latin typeface="Aptos"/>
              </a:rPr>
              <a:t>Reconhecer Libras real exige capturar movimento e tempo — não apenas o contorno estático das mãos.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3912" y="118872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3912" y="1188720"/>
            <a:ext cx="73152" cy="1051560"/>
          </a:xfrm>
          <a:prstGeom prst="rect">
            <a:avLst/>
          </a:prstGeom>
          <a:solidFill>
            <a:srgbClr val="266E6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298448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96,05%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719072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acurácia global reportada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42832" y="118872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42832" y="1188720"/>
            <a:ext cx="73152" cy="1051560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298448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+6,4%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719072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ganho vs. cinco métodos correlatos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3912" y="2423160"/>
            <a:ext cx="5303520" cy="178308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53912" y="2423160"/>
            <a:ext cx="73152" cy="1783080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560320"/>
            <a:ext cx="4892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233A"/>
                </a:solidFill>
                <a:latin typeface="Aptos"/>
              </a:rPr>
              <a:t>O que o SINALA herda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852928"/>
            <a:ext cx="489204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0F233A"/>
                </a:solidFill>
                <a:latin typeface="Aptos"/>
              </a:rPr>
              <a:t>A premissa fundamental de um sistema assistivo natural, barato e sem instrumentação invasiva para uso em webcam comum.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3912" y="4389120"/>
            <a:ext cx="5303520" cy="1783080"/>
          </a:xfrm>
          <a:prstGeom prst="rect">
            <a:avLst/>
          </a:prstGeom>
          <a:solidFill>
            <a:srgbClr val="FFFDF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53912" y="4389120"/>
            <a:ext cx="73152" cy="1783080"/>
          </a:xfrm>
          <a:prstGeom prst="rect">
            <a:avLst/>
          </a:prstGeom>
          <a:solidFill>
            <a:srgbClr val="59636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526280"/>
            <a:ext cx="4892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233A"/>
                </a:solidFill>
                <a:latin typeface="Aptos"/>
              </a:rPr>
              <a:t>Limitação que precisamos superar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818888"/>
            <a:ext cx="489204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0F233A"/>
                </a:solidFill>
                <a:latin typeface="Aptos"/>
              </a:rPr>
              <a:t>Gestos estáticos do alfabeto não representam sinais dinâmicos completos: falta modelagem temporal de trajetórias.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46520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640080" cy="256032"/>
          </a:xfrm>
          <a:prstGeom prst="rect">
            <a:avLst/>
          </a:prstGeom>
          <a:solidFill>
            <a:srgbClr val="F1F5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1">
                <a:solidFill>
                  <a:srgbClr val="1F4E79"/>
                </a:solidFill>
                <a:latin typeface="Aptos"/>
              </a:rPr>
              <a:t>REF.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34747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F233A"/>
                </a:solidFill>
                <a:latin typeface="Aptos"/>
              </a:rPr>
              <a:t>Feliciano, Briano, Prudêncio e Alves (2023)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384048"/>
            <a:ext cx="350215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0">
                <a:solidFill>
                  <a:srgbClr val="64748B"/>
                </a:solidFill>
                <a:latin typeface="Aptos"/>
              </a:rPr>
              <a:t>IEEE CISTI • IFPE / UFPE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94944"/>
            <a:ext cx="1072591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Recognition of Static or Dynamic LIBRAS Words in Complex Background Environments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24128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1901952" cy="237744"/>
          </a:xfrm>
          <a:prstGeom prst="rect">
            <a:avLst/>
          </a:prstGeom>
          <a:solidFill>
            <a:srgbClr val="F1F5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1901952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1">
                <a:solidFill>
                  <a:srgbClr val="0F233A"/>
                </a:solidFill>
                <a:latin typeface="Aptos"/>
              </a:rPr>
              <a:t>LANDMARKS ARTICULARES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24912" y="1188720"/>
            <a:ext cx="4718303" cy="237744"/>
          </a:xfrm>
          <a:prstGeom prst="rect">
            <a:avLst/>
          </a:prstGeom>
          <a:solidFill>
            <a:srgbClr val="EFF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16352" y="1234440"/>
            <a:ext cx="4535423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F4E79"/>
                </a:solidFill>
                <a:latin typeface="Aptos"/>
              </a:rPr>
              <a:t>MODELO: MediaPipe Hands + Perceptron Multicamadas (MLP / Keras)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554480"/>
            <a:ext cx="5166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233A"/>
                </a:solidFill>
                <a:latin typeface="Aptos"/>
              </a:rPr>
              <a:t>Landmarks reduzem o ruído visual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5166360" cy="2468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Pipeline em dois estágios: OpenCV → MediaPipe → TensorFlow / Keras.</a:t>
            </a:r>
          </a:p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Extração de 21 coordenadas esqueléticas (x, y, z) por mão em tempo real.</a:t>
            </a:r>
          </a:p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Os pontos articulares isolam o sinalizador de ruídos visuais de fundo e cores de parede.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709160"/>
            <a:ext cx="5166360" cy="150876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709160"/>
            <a:ext cx="73152" cy="1508760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846320"/>
            <a:ext cx="4800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LIÇÃO-CHAVE PARA O SINALA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102352"/>
            <a:ext cx="48006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233A"/>
                </a:solidFill>
                <a:latin typeface="Aptos"/>
              </a:rPr>
              <a:t>Buffer temporal de estabilidade e máscaras de presença são vitais para mitigar oscilações momentâneas do rastreador.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3912" y="118872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3912" y="1188720"/>
            <a:ext cx="73152" cy="1051560"/>
          </a:xfrm>
          <a:prstGeom prst="rect">
            <a:avLst/>
          </a:prstGeom>
          <a:solidFill>
            <a:srgbClr val="266E6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298448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92–98%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719072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acurácia normal / laboratório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42832" y="118872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42832" y="1188720"/>
            <a:ext cx="73152" cy="1051560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298448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95%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719072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baixa luminosidade preservada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3912" y="2423160"/>
            <a:ext cx="5303520" cy="178308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53912" y="2423160"/>
            <a:ext cx="73152" cy="1783080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560320"/>
            <a:ext cx="4892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233A"/>
                </a:solidFill>
                <a:latin typeface="Aptos"/>
              </a:rPr>
              <a:t>O que o SINALA herda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852928"/>
            <a:ext cx="489204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0F233A"/>
                </a:solidFill>
                <a:latin typeface="Aptos"/>
              </a:rPr>
              <a:t>A arquitetura em dois estágios: transformar pixels em esqueletos articulares antes da classificação neural.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3912" y="4389120"/>
            <a:ext cx="5303520" cy="1783080"/>
          </a:xfrm>
          <a:prstGeom prst="rect">
            <a:avLst/>
          </a:prstGeom>
          <a:solidFill>
            <a:srgbClr val="FFFDF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53912" y="4389120"/>
            <a:ext cx="73152" cy="1783080"/>
          </a:xfrm>
          <a:prstGeom prst="rect">
            <a:avLst/>
          </a:prstGeom>
          <a:solidFill>
            <a:srgbClr val="59636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526280"/>
            <a:ext cx="4892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233A"/>
                </a:solidFill>
                <a:latin typeface="Aptos"/>
              </a:rPr>
              <a:t>Limitação que precisamos superar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818888"/>
            <a:ext cx="489204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0F233A"/>
                </a:solidFill>
                <a:latin typeface="Aptos"/>
              </a:rPr>
              <a:t>Motion blur em gestos bruscos causa perda momentânea de tracking e fundos severamente poluídos derrubam para ~82%.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46520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640080" cy="256032"/>
          </a:xfrm>
          <a:prstGeom prst="rect">
            <a:avLst/>
          </a:prstGeom>
          <a:solidFill>
            <a:srgbClr val="F1F5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1">
                <a:solidFill>
                  <a:srgbClr val="1F4E79"/>
                </a:solidFill>
                <a:latin typeface="Aptos"/>
              </a:rPr>
              <a:t>REF.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34747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F233A"/>
                </a:solidFill>
                <a:latin typeface="Aptos"/>
              </a:rPr>
              <a:t>Arcanjo, Coelho, Guimarães et al. (2024)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384048"/>
            <a:ext cx="350215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0">
                <a:solidFill>
                  <a:srgbClr val="64748B"/>
                </a:solidFill>
                <a:latin typeface="Aptos"/>
              </a:rPr>
              <a:t>SBC WebMedia • PUC Minas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94944"/>
            <a:ext cx="1072591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Automatic Time-Aware Recognition of Brazilian Sign Language Based on Dynamic Time Warping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24128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1755648" cy="237744"/>
          </a:xfrm>
          <a:prstGeom prst="rect">
            <a:avLst/>
          </a:prstGeom>
          <a:solidFill>
            <a:srgbClr val="F1F5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17556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1">
                <a:solidFill>
                  <a:srgbClr val="0F233A"/>
                </a:solidFill>
                <a:latin typeface="Aptos"/>
              </a:rPr>
              <a:t>ESTUDO MAIS CRÍTICO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188720"/>
            <a:ext cx="4257446" cy="237744"/>
          </a:xfrm>
          <a:prstGeom prst="rect">
            <a:avLst/>
          </a:prstGeom>
          <a:solidFill>
            <a:srgbClr val="EFF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0048" y="1234440"/>
            <a:ext cx="4074566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F4E79"/>
                </a:solidFill>
                <a:latin typeface="Aptos"/>
              </a:rPr>
              <a:t>MODELO: MediaPipe Holistic + Ângulos 3D + FastDTW (O(N))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554480"/>
            <a:ext cx="5166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233A"/>
                </a:solidFill>
                <a:latin typeface="Aptos"/>
              </a:rPr>
              <a:t>O split muda a história do resultado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5166360" cy="2468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Mesmo dataset do MVP do SINALA: MINDS-Libras • 20 classes • 1.200 vídeos gravados.</a:t>
            </a:r>
          </a:p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MediaPipe Holistic extrai 21 marcos por mão e 33 marcos corporais.</a:t>
            </a:r>
          </a:p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Cálculo de ângulos 3D entre falanges dos dedos para classificar por distância temporal elástica.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709160"/>
            <a:ext cx="5166360" cy="150876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709160"/>
            <a:ext cx="73152" cy="1508760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846320"/>
            <a:ext cx="4800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LIÇÃO-CHAVE PARA O SINALA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102352"/>
            <a:ext cx="48006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233A"/>
                </a:solidFill>
                <a:latin typeface="Aptos"/>
              </a:rPr>
              <a:t>O SINALA adota separação estrita por sinalizador como compromisso metodológico inegociável.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3912" y="118872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3912" y="1188720"/>
            <a:ext cx="73152" cy="1051560"/>
          </a:xfrm>
          <a:prstGeom prst="rect">
            <a:avLst/>
          </a:prstGeom>
          <a:solidFill>
            <a:srgbClr val="266E6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298448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98% ± 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719072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split aleatório (ilusão de precisão)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42832" y="118872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42832" y="1188720"/>
            <a:ext cx="73152" cy="1051560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298448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86% ± 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719072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LOOCV por sinalizador (generalização real)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3912" y="2423160"/>
            <a:ext cx="5303520" cy="178308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53912" y="2423160"/>
            <a:ext cx="73152" cy="1783080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560320"/>
            <a:ext cx="4892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233A"/>
                </a:solidFill>
                <a:latin typeface="Aptos"/>
              </a:rPr>
              <a:t>O que o SINALA herda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852928"/>
            <a:ext cx="489204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0F233A"/>
                </a:solidFill>
                <a:latin typeface="Aptos"/>
              </a:rPr>
              <a:t>A prova empírica definitiva de que misturar vídeos da mesma pessoa no treino e no teste gera acurácia inflada.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3912" y="4389120"/>
            <a:ext cx="5303520" cy="1783080"/>
          </a:xfrm>
          <a:prstGeom prst="rect">
            <a:avLst/>
          </a:prstGeom>
          <a:solidFill>
            <a:srgbClr val="FFFDF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53912" y="4389120"/>
            <a:ext cx="73152" cy="1783080"/>
          </a:xfrm>
          <a:prstGeom prst="rect">
            <a:avLst/>
          </a:prstGeom>
          <a:solidFill>
            <a:srgbClr val="59636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526280"/>
            <a:ext cx="4892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233A"/>
                </a:solidFill>
                <a:latin typeface="Aptos"/>
              </a:rPr>
              <a:t>Limitação que precisamos superar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818888"/>
            <a:ext cx="489204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0F233A"/>
                </a:solidFill>
                <a:latin typeface="Aptos"/>
              </a:rPr>
              <a:t>Classes ambíguas com mãos similares (Banheiro × Acontecer) caem para 47% em validação rigorosa.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46520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640080" cy="256032"/>
          </a:xfrm>
          <a:prstGeom prst="rect">
            <a:avLst/>
          </a:prstGeom>
          <a:solidFill>
            <a:srgbClr val="F1F5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1">
                <a:solidFill>
                  <a:srgbClr val="1F4E79"/>
                </a:solidFill>
                <a:latin typeface="Aptos"/>
              </a:rPr>
              <a:t>REF.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34747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F233A"/>
                </a:solidFill>
                <a:latin typeface="Aptos"/>
              </a:rPr>
              <a:t>de Castro, Guerra e Guimarães (2023)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384048"/>
            <a:ext cx="350215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0">
                <a:solidFill>
                  <a:srgbClr val="64748B"/>
                </a:solidFill>
                <a:latin typeface="Aptos"/>
              </a:rPr>
              <a:t>Elsevier ESWA • UFMG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94944"/>
            <a:ext cx="1072591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Automatic Translation of Sign Language with Multi-Stream 3D CNN and Generation of Artificial Depth Maps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24128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1682495" cy="237744"/>
          </a:xfrm>
          <a:prstGeom prst="rect">
            <a:avLst/>
          </a:prstGeom>
          <a:solidFill>
            <a:srgbClr val="F1F5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1682495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1">
                <a:solidFill>
                  <a:srgbClr val="0F233A"/>
                </a:solidFill>
                <a:latin typeface="Aptos"/>
              </a:rPr>
              <a:t>ESPAÇO-TEMPORAL 3D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05456" y="1188720"/>
            <a:ext cx="4389120" cy="237744"/>
          </a:xfrm>
          <a:prstGeom prst="rect">
            <a:avLst/>
          </a:prstGeom>
          <a:solidFill>
            <a:srgbClr val="EFF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96896" y="1234440"/>
            <a:ext cx="42062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F4E79"/>
                </a:solidFill>
                <a:latin typeface="Aptos"/>
              </a:rPr>
              <a:t>MODELO: Multi-Stream 3D CNN + GAN (Profundidade Sintética)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554480"/>
            <a:ext cx="5166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233A"/>
                </a:solidFill>
                <a:latin typeface="Aptos"/>
              </a:rPr>
              <a:t>Mais riqueza espacial — por um preço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5166360" cy="2468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Pesquisa do laboratório da UFMG criador da base MINDS-Libras.</a:t>
            </a:r>
          </a:p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Redes Generativas Adversariais (GANs) geram mapas artificiais de profundidade a partir de RGB puro.</a:t>
            </a:r>
          </a:p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3D CNN multi-stream combina fluxos de mãos, face, velocidades e profundidade sintética.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709160"/>
            <a:ext cx="5166360" cy="150876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709160"/>
            <a:ext cx="73152" cy="1508760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846320"/>
            <a:ext cx="4800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LIÇÃO-CHAVE PARA O SINALA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102352"/>
            <a:ext cx="48006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233A"/>
                </a:solidFill>
                <a:latin typeface="Aptos"/>
              </a:rPr>
              <a:t>No SINALA, os landmarks vetoriais (x,y,z) fornecem informação 3D consumindo frações de milissegundo de CPU.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3912" y="118872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3912" y="1188720"/>
            <a:ext cx="73152" cy="1051560"/>
          </a:xfrm>
          <a:prstGeom prst="rect">
            <a:avLst/>
          </a:prstGeom>
          <a:solidFill>
            <a:srgbClr val="266E6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298448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91% ± 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719072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acurácia global em Libras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42832" y="118872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42832" y="1188720"/>
            <a:ext cx="73152" cy="1051560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298448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0,90 ± 0,08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719072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F1-Score balanceado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3912" y="2423160"/>
            <a:ext cx="5303520" cy="178308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53912" y="2423160"/>
            <a:ext cx="73152" cy="1783080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560320"/>
            <a:ext cx="4892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233A"/>
                </a:solidFill>
                <a:latin typeface="Aptos"/>
              </a:rPr>
              <a:t>O que o SINALA herda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852928"/>
            <a:ext cx="489204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0F233A"/>
                </a:solidFill>
                <a:latin typeface="Aptos"/>
              </a:rPr>
              <a:t>A confirmação de que a terceira dimensão (profundidade) desempata sobreposições de mãos em frente ao peito.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3912" y="4389120"/>
            <a:ext cx="5303520" cy="1783080"/>
          </a:xfrm>
          <a:prstGeom prst="rect">
            <a:avLst/>
          </a:prstGeom>
          <a:solidFill>
            <a:srgbClr val="FFFDF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53912" y="4389120"/>
            <a:ext cx="73152" cy="1783080"/>
          </a:xfrm>
          <a:prstGeom prst="rect">
            <a:avLst/>
          </a:prstGeom>
          <a:solidFill>
            <a:srgbClr val="59636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526280"/>
            <a:ext cx="4892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233A"/>
                </a:solidFill>
                <a:latin typeface="Aptos"/>
              </a:rPr>
              <a:t>Limitação que precisamos superar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818888"/>
            <a:ext cx="489204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0F233A"/>
                </a:solidFill>
                <a:latin typeface="Aptos"/>
              </a:rPr>
              <a:t>Redes 3D CNN + GANs exigem GPUs dedicadas pesadas e impedem execução a 30 FPS em CPU modesta.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46520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640080" cy="256032"/>
          </a:xfrm>
          <a:prstGeom prst="rect">
            <a:avLst/>
          </a:prstGeom>
          <a:solidFill>
            <a:srgbClr val="F1F5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1">
                <a:solidFill>
                  <a:srgbClr val="1F4E79"/>
                </a:solidFill>
                <a:latin typeface="Aptos"/>
              </a:rPr>
              <a:t>REF.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34747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F233A"/>
                </a:solidFill>
                <a:latin typeface="Aptos"/>
              </a:rPr>
              <a:t>Rodrigues, Barbosa, Fiera e Oliveira (2025)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384048"/>
            <a:ext cx="350215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0">
                <a:solidFill>
                  <a:srgbClr val="64748B"/>
                </a:solidFill>
                <a:latin typeface="Aptos"/>
              </a:rPr>
              <a:t>SBC ENIAC • UNESC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94944"/>
            <a:ext cx="1072591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Dynamic Sign Recognition in Brazilian Sign Language Through Convolutional Neural Networks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24128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1536192" cy="237744"/>
          </a:xfrm>
          <a:prstGeom prst="rect">
            <a:avLst/>
          </a:prstGeom>
          <a:solidFill>
            <a:srgbClr val="F1F5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1536192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1">
                <a:solidFill>
                  <a:srgbClr val="0F233A"/>
                </a:solidFill>
                <a:latin typeface="Aptos"/>
              </a:rPr>
              <a:t>SINAIS DINÂMICOS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59152" y="1188720"/>
            <a:ext cx="5376672" cy="237744"/>
          </a:xfrm>
          <a:prstGeom prst="rect">
            <a:avLst/>
          </a:prstGeom>
          <a:solidFill>
            <a:srgbClr val="EFF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0592" y="1234440"/>
            <a:ext cx="5193792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F4E79"/>
                </a:solidFill>
                <a:latin typeface="Aptos"/>
              </a:rPr>
              <a:t>MODELO: Benchmark de 5 CNNs 2D (ResNet18 vs. Alex/VGG/Inception/DenseNet)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554480"/>
            <a:ext cx="5166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233A"/>
                </a:solidFill>
                <a:latin typeface="Aptos"/>
              </a:rPr>
              <a:t>CNNs 2D encontram um teto em sinais dinâmicos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5166360" cy="2468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Benchmark comparativo focado em sinais de Libras que dependem de movimento no tempo.</a:t>
            </a:r>
          </a:p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Avalia o impacto da profundidade da rede versus sobreajuste em conjuntos moderados.</a:t>
            </a:r>
          </a:p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ResNet18 superou modelos maiores (DenseNet121 e InceptionV3) graças às conexões residuais.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709160"/>
            <a:ext cx="5166360" cy="150876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709160"/>
            <a:ext cx="73152" cy="1508760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846320"/>
            <a:ext cx="4800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LIÇÃO-CHAVE PARA O SINALA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102352"/>
            <a:ext cx="48006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233A"/>
                </a:solidFill>
                <a:latin typeface="Aptos"/>
              </a:rPr>
              <a:t>O SINALA acopla obrigatoriamente uma camada recorrente (GRU) para superar o teto de 74% em sinais dinâmicos.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3912" y="118872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3912" y="1188720"/>
            <a:ext cx="73152" cy="1051560"/>
          </a:xfrm>
          <a:prstGeom prst="rect">
            <a:avLst/>
          </a:prstGeom>
          <a:solidFill>
            <a:srgbClr val="266E6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298448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74,29%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719072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acurácia máxima com ResNet18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42832" y="118872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42832" y="1188720"/>
            <a:ext cx="73152" cy="1051560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298448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&lt; 70%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719072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redes profundas por overfitting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3912" y="2423160"/>
            <a:ext cx="5303520" cy="178308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53912" y="2423160"/>
            <a:ext cx="73152" cy="1783080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560320"/>
            <a:ext cx="4892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233A"/>
                </a:solidFill>
                <a:latin typeface="Aptos"/>
              </a:rPr>
              <a:t>O que o SINALA herda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852928"/>
            <a:ext cx="489204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0F233A"/>
                </a:solidFill>
                <a:latin typeface="Aptos"/>
              </a:rPr>
              <a:t>A evidência empírica recente de que tratar vídeo como frames 2D estáticos bate em um limite intransponível.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3912" y="4389120"/>
            <a:ext cx="5303520" cy="1783080"/>
          </a:xfrm>
          <a:prstGeom prst="rect">
            <a:avLst/>
          </a:prstGeom>
          <a:solidFill>
            <a:srgbClr val="FFFDF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53912" y="4389120"/>
            <a:ext cx="73152" cy="1783080"/>
          </a:xfrm>
          <a:prstGeom prst="rect">
            <a:avLst/>
          </a:prstGeom>
          <a:solidFill>
            <a:srgbClr val="59636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526280"/>
            <a:ext cx="4892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233A"/>
                </a:solidFill>
                <a:latin typeface="Aptos"/>
              </a:rPr>
              <a:t>Limitação que precisamos superar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818888"/>
            <a:ext cx="489204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0F233A"/>
                </a:solidFill>
                <a:latin typeface="Aptos"/>
              </a:rPr>
              <a:t>Modelos puramente convolucionais de imagem perdem a cronologia interna, aceleração e direção da mão.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46520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640080" cy="256032"/>
          </a:xfrm>
          <a:prstGeom prst="rect">
            <a:avLst/>
          </a:prstGeom>
          <a:solidFill>
            <a:srgbClr val="F1F5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1">
                <a:solidFill>
                  <a:srgbClr val="1F4E79"/>
                </a:solidFill>
                <a:latin typeface="Aptos"/>
              </a:rPr>
              <a:t>REF.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34747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F233A"/>
                </a:solidFill>
                <a:latin typeface="Aptos"/>
              </a:rPr>
              <a:t>Pereira, Santana, Martins e Corrêa (2026)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384048"/>
            <a:ext cx="350215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0">
                <a:solidFill>
                  <a:srgbClr val="64748B"/>
                </a:solidFill>
                <a:latin typeface="Aptos"/>
              </a:rPr>
              <a:t>SBC WICS • UFPel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94944"/>
            <a:ext cx="1072591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Semantic Vector Space Mapping Between Brazilian Portuguese and Libras Glosses Using Siamese Models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24128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1682495" cy="237744"/>
          </a:xfrm>
          <a:prstGeom prst="rect">
            <a:avLst/>
          </a:prstGeom>
          <a:solidFill>
            <a:srgbClr val="F1F5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1682495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1">
                <a:solidFill>
                  <a:srgbClr val="0F233A"/>
                </a:solidFill>
                <a:latin typeface="Aptos"/>
              </a:rPr>
              <a:t>NÍVEL 3 • TRADUÇÃO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05456" y="1188720"/>
            <a:ext cx="4849977" cy="237744"/>
          </a:xfrm>
          <a:prstGeom prst="rect">
            <a:avLst/>
          </a:prstGeom>
          <a:solidFill>
            <a:srgbClr val="EFF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96896" y="1234440"/>
            <a:ext cx="46670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F4E79"/>
                </a:solidFill>
                <a:latin typeface="Aptos"/>
              </a:rPr>
              <a:t>MODELO: Rede Siamesa com BERTimbau + MultipleNegativesRankingLoss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554480"/>
            <a:ext cx="5166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233A"/>
                </a:solidFill>
                <a:latin typeface="Aptos"/>
              </a:rPr>
              <a:t>Reconhecer não basta: é preciso traduzir sentido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5166360" cy="2468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Espaço vetorial semântico compartilhado entre glosas de Libras e sentenças em português brasileiro.</a:t>
            </a:r>
          </a:p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Ajuste fino contrastivo sobre modelo pré-treinado BERTimbau com mean pooling.</a:t>
            </a:r>
          </a:p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Objetivo: aproximar frases semanticamente equivalentes, respeitando a estrutura gramatical da Libras.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709160"/>
            <a:ext cx="5166360" cy="150876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709160"/>
            <a:ext cx="73152" cy="1508760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846320"/>
            <a:ext cx="4800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LIÇÃO-CHAVE PARA O SINALA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102352"/>
            <a:ext cx="48006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233A"/>
                </a:solidFill>
                <a:latin typeface="Aptos"/>
              </a:rPr>
              <a:t>O classificador visual do SINALA é o motor de percepção que fornecerá os sinais de entrada para esse alinhador.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3912" y="118872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3912" y="1188720"/>
            <a:ext cx="73152" cy="1051560"/>
          </a:xfrm>
          <a:prstGeom prst="rect">
            <a:avLst/>
          </a:prstGeom>
          <a:solidFill>
            <a:srgbClr val="266E6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298448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98,77%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719072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Recall@1 no ranking de sentenças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42832" y="118872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42832" y="1188720"/>
            <a:ext cx="73152" cy="1051560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298448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99,38%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719072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Mean Reciprocal Rank (MRR)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3912" y="2423160"/>
            <a:ext cx="5303520" cy="178308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53912" y="2423160"/>
            <a:ext cx="73152" cy="1783080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560320"/>
            <a:ext cx="4892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233A"/>
                </a:solidFill>
                <a:latin typeface="Aptos"/>
              </a:rPr>
              <a:t>O que o SINALA herda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852928"/>
            <a:ext cx="489204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0F233A"/>
                </a:solidFill>
                <a:latin typeface="Aptos"/>
              </a:rPr>
              <a:t>A arquitetura em modelo de linguagem para converter sequências de sinais em sentenças em português correto.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3912" y="4389120"/>
            <a:ext cx="5303520" cy="1783080"/>
          </a:xfrm>
          <a:prstGeom prst="rect">
            <a:avLst/>
          </a:prstGeom>
          <a:solidFill>
            <a:srgbClr val="FFFDF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53912" y="4389120"/>
            <a:ext cx="73152" cy="1783080"/>
          </a:xfrm>
          <a:prstGeom prst="rect">
            <a:avLst/>
          </a:prstGeom>
          <a:solidFill>
            <a:srgbClr val="59636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526280"/>
            <a:ext cx="4892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233A"/>
                </a:solidFill>
                <a:latin typeface="Aptos"/>
              </a:rPr>
              <a:t>Limitação que precisamos superar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818888"/>
            <a:ext cx="489204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0F233A"/>
                </a:solidFill>
                <a:latin typeface="Aptos"/>
              </a:rPr>
              <a:t>Opera no nível textual (glosas ↔ português), dependendo de um extrator visual prévio para produzir as glosas.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46520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640080" cy="256032"/>
          </a:xfrm>
          <a:prstGeom prst="rect">
            <a:avLst/>
          </a:prstGeom>
          <a:solidFill>
            <a:srgbClr val="F1F5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1">
                <a:solidFill>
                  <a:srgbClr val="1F4E79"/>
                </a:solidFill>
                <a:latin typeface="Aptos"/>
              </a:rPr>
              <a:t>REF.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34747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F233A"/>
                </a:solidFill>
                <a:latin typeface="Aptos"/>
              </a:rPr>
              <a:t>da Silva, Araujo, do Rêgo e Brandão (2020)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384048"/>
            <a:ext cx="350215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0">
                <a:solidFill>
                  <a:srgbClr val="64748B"/>
                </a:solidFill>
                <a:latin typeface="Aptos"/>
              </a:rPr>
              <a:t>ACM WebMedia • UFPB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94944"/>
            <a:ext cx="1072591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A Two-Stream Model Based on 3D Convolutional Neural Networks for the Recognition of Brazilian Sign Language in the Health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24128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1463040" cy="237744"/>
          </a:xfrm>
          <a:prstGeom prst="rect">
            <a:avLst/>
          </a:prstGeom>
          <a:solidFill>
            <a:srgbClr val="F1F5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1463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1">
                <a:solidFill>
                  <a:srgbClr val="0F233A"/>
                </a:solidFill>
                <a:latin typeface="Aptos"/>
              </a:rPr>
              <a:t>LIBRAS NA SAÚDE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188720"/>
            <a:ext cx="4981651" cy="237744"/>
          </a:xfrm>
          <a:prstGeom prst="rect">
            <a:avLst/>
          </a:prstGeom>
          <a:solidFill>
            <a:srgbClr val="EFF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1234440"/>
            <a:ext cx="4798771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F4E79"/>
                </a:solidFill>
                <a:latin typeface="Aptos"/>
              </a:rPr>
              <a:t>MODELO: Two-Stream 3D CNN (Fluxo Espacial RGB + Fluxo Óptico TV-L1)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554480"/>
            <a:ext cx="5166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233A"/>
                </a:solidFill>
                <a:latin typeface="Aptos"/>
              </a:rPr>
              <a:t>Duas correntes: aparência e movimento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5166360" cy="2468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Reconhecimento aplicado a sinais médicos e clínicos de Libras no domínio da saúde.</a:t>
            </a:r>
          </a:p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Arquitetura de duas correntes 3D CNN: corrente espacial (frames RGB) e temporal (fluxo óptico TV-L1).</a:t>
            </a:r>
          </a:p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Validação cruzada leave-one-signer-out sobre vídeos gravados com profissionais de saúde.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709160"/>
            <a:ext cx="5166360" cy="150876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709160"/>
            <a:ext cx="73152" cy="1508760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846320"/>
            <a:ext cx="4800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LIÇÃO-CHAVE PARA O SINALA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102352"/>
            <a:ext cx="48006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233A"/>
                </a:solidFill>
                <a:latin typeface="Aptos"/>
              </a:rPr>
              <a:t>No SINALA, as derivadas temporais dos próprios marcos anatômicos substituem o fluxo óptico com custo nulo de CPU.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3912" y="118872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3912" y="1188720"/>
            <a:ext cx="73152" cy="1051560"/>
          </a:xfrm>
          <a:prstGeom prst="rect">
            <a:avLst/>
          </a:prstGeom>
          <a:solidFill>
            <a:srgbClr val="266E6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298448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88,9%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719072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acurácia em sinais clínicos de saúde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42832" y="118872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42832" y="1188720"/>
            <a:ext cx="73152" cy="1051560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298448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+5,2%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719072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ganho vs. 3D CNN de corrente única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3912" y="2423160"/>
            <a:ext cx="5303520" cy="178308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53912" y="2423160"/>
            <a:ext cx="73152" cy="1783080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560320"/>
            <a:ext cx="4892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233A"/>
                </a:solidFill>
                <a:latin typeface="Aptos"/>
              </a:rPr>
              <a:t>O que o SINALA herda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852928"/>
            <a:ext cx="489204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0F233A"/>
                </a:solidFill>
                <a:latin typeface="Aptos"/>
              </a:rPr>
              <a:t>A relevância de separar a informação de aparência estática da mão da dinâmica de velocidade do sinal.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3912" y="4389120"/>
            <a:ext cx="5303520" cy="1783080"/>
          </a:xfrm>
          <a:prstGeom prst="rect">
            <a:avLst/>
          </a:prstGeom>
          <a:solidFill>
            <a:srgbClr val="FFFDF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53912" y="4389120"/>
            <a:ext cx="73152" cy="1783080"/>
          </a:xfrm>
          <a:prstGeom prst="rect">
            <a:avLst/>
          </a:prstGeom>
          <a:solidFill>
            <a:srgbClr val="59636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526280"/>
            <a:ext cx="4892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233A"/>
                </a:solidFill>
                <a:latin typeface="Aptos"/>
              </a:rPr>
              <a:t>Limitação que precisamos superar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818888"/>
            <a:ext cx="489204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0F233A"/>
                </a:solidFill>
                <a:latin typeface="Aptos"/>
              </a:rPr>
              <a:t>O cálculo do fluxo óptico denso (TV-L1) introduz alto custo computacional por quadro, impedindo tempo real leve.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46520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640080" cy="256032"/>
          </a:xfrm>
          <a:prstGeom prst="rect">
            <a:avLst/>
          </a:prstGeom>
          <a:solidFill>
            <a:srgbClr val="F1F5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1">
                <a:solidFill>
                  <a:srgbClr val="1F4E79"/>
                </a:solidFill>
                <a:latin typeface="Aptos"/>
              </a:rPr>
              <a:t>REF.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34747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F233A"/>
                </a:solidFill>
                <a:latin typeface="Aptos"/>
              </a:rPr>
              <a:t>Passos, Araujo, Gois e de Lima (2021)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384048"/>
            <a:ext cx="350215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0">
                <a:solidFill>
                  <a:srgbClr val="64748B"/>
                </a:solidFill>
                <a:latin typeface="Aptos"/>
              </a:rPr>
              <a:t>IEEE TCSI • CEFET/RJ / UFF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94944"/>
            <a:ext cx="1072591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A Gait Energy Image-Based System for Brazilian Sign Language Recognition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24128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2267712" cy="237744"/>
          </a:xfrm>
          <a:prstGeom prst="rect">
            <a:avLst/>
          </a:prstGeom>
          <a:solidFill>
            <a:srgbClr val="F1F5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2267712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1">
                <a:solidFill>
                  <a:srgbClr val="0F233A"/>
                </a:solidFill>
                <a:latin typeface="Aptos"/>
              </a:rPr>
              <a:t>COMPRESSÃO ESPAÇO-TEMPORAL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90672" y="1188720"/>
            <a:ext cx="4389120" cy="237744"/>
          </a:xfrm>
          <a:prstGeom prst="rect">
            <a:avLst/>
          </a:prstGeom>
          <a:solidFill>
            <a:srgbClr val="EFF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82112" y="1234440"/>
            <a:ext cx="42062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F4E79"/>
                </a:solidFill>
                <a:latin typeface="Aptos"/>
              </a:rPr>
              <a:t>MODELO: Gait Energy Image (GEI) + PCA/LDA + SVM / LightGBM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554480"/>
            <a:ext cx="5166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233A"/>
                </a:solidFill>
                <a:latin typeface="Aptos"/>
              </a:rPr>
              <a:t>Colapso espaço-temporal de alta densidade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5166360" cy="2468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Condensa sequências temporais de silhuetas em uma única imagem de energia acumulada média (GEI).</a:t>
            </a:r>
          </a:p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Redução de dimensionalidade via PCA + LDA para classificação por SVM / LightGBM.</a:t>
            </a:r>
          </a:p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Transforma o processamento de sequências de vídeo em classificação estática ultrarrápida.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709160"/>
            <a:ext cx="5166360" cy="150876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709160"/>
            <a:ext cx="73152" cy="1508760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846320"/>
            <a:ext cx="4800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LIÇÃO-CHAVE PARA O SINALA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102352"/>
            <a:ext cx="48006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233A"/>
                </a:solidFill>
                <a:latin typeface="Aptos"/>
              </a:rPr>
              <a:t>Redes recorrentes (como a GRU) são indispensáveis no SINALA para distinguir sinais com trajetórias simétricas.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3912" y="118872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3912" y="1188720"/>
            <a:ext cx="73152" cy="1051560"/>
          </a:xfrm>
          <a:prstGeom prst="rect">
            <a:avLst/>
          </a:prstGeom>
          <a:solidFill>
            <a:srgbClr val="266E6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298448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98,8%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719072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acurácia em sinais isolados de Libras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42832" y="118872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42832" y="1188720"/>
            <a:ext cx="73152" cy="1051560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298448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99,4%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719072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redução do volume de dados brutos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3912" y="2423160"/>
            <a:ext cx="5303520" cy="178308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53912" y="2423160"/>
            <a:ext cx="73152" cy="1783080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560320"/>
            <a:ext cx="4892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233A"/>
                </a:solidFill>
                <a:latin typeface="Aptos"/>
              </a:rPr>
              <a:t>O que o SINALA herda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852928"/>
            <a:ext cx="489204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0F233A"/>
                </a:solidFill>
                <a:latin typeface="Aptos"/>
              </a:rPr>
              <a:t>A eficiência de colapsar redundâncias temporais em representações compactas para baratear a classificação.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3912" y="4389120"/>
            <a:ext cx="5303520" cy="1783080"/>
          </a:xfrm>
          <a:prstGeom prst="rect">
            <a:avLst/>
          </a:prstGeom>
          <a:solidFill>
            <a:srgbClr val="FFFDF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53912" y="4389120"/>
            <a:ext cx="73152" cy="1783080"/>
          </a:xfrm>
          <a:prstGeom prst="rect">
            <a:avLst/>
          </a:prstGeom>
          <a:solidFill>
            <a:srgbClr val="59636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526280"/>
            <a:ext cx="4892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233A"/>
                </a:solidFill>
                <a:latin typeface="Aptos"/>
              </a:rPr>
              <a:t>Limitação que precisamos superar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818888"/>
            <a:ext cx="489204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0F233A"/>
                </a:solidFill>
                <a:latin typeface="Aptos"/>
              </a:rPr>
              <a:t>A imagem de energia média perde a cronologia interna do gesto (movimentos reversíveis geram a mesma imagem).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46520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640080" cy="256032"/>
          </a:xfrm>
          <a:prstGeom prst="rect">
            <a:avLst/>
          </a:prstGeom>
          <a:solidFill>
            <a:srgbClr val="F1F5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1">
                <a:solidFill>
                  <a:srgbClr val="1F4E79"/>
                </a:solidFill>
                <a:latin typeface="Aptos"/>
              </a:rPr>
              <a:t>REF.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34747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F233A"/>
                </a:solidFill>
                <a:latin typeface="Aptos"/>
              </a:rPr>
              <a:t>Rezende, Almeida e Guimarães (2021)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384048"/>
            <a:ext cx="350215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0">
                <a:solidFill>
                  <a:srgbClr val="64748B"/>
                </a:solidFill>
                <a:latin typeface="Aptos"/>
              </a:rPr>
              <a:t>Springer NCA • UFMG / IFMG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94944"/>
            <a:ext cx="1072591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Development and Validation of a Brazilian Sign Language Database for Human Gesture Recognition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24128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1536192" cy="237744"/>
          </a:xfrm>
          <a:prstGeom prst="rect">
            <a:avLst/>
          </a:prstGeom>
          <a:solidFill>
            <a:srgbClr val="F1F5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1536192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1">
                <a:solidFill>
                  <a:srgbClr val="0F233A"/>
                </a:solidFill>
                <a:latin typeface="Aptos"/>
              </a:rPr>
              <a:t>DATASET CANÔNICO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59152" y="1188720"/>
            <a:ext cx="5376672" cy="237744"/>
          </a:xfrm>
          <a:prstGeom prst="rect">
            <a:avLst/>
          </a:prstGeom>
          <a:solidFill>
            <a:srgbClr val="EFF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0592" y="1234440"/>
            <a:ext cx="5193792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F4E79"/>
                </a:solidFill>
                <a:latin typeface="Aptos"/>
              </a:rPr>
              <a:t>MODELO: CNNs 2D e 3D Multimodais (InceptionV3 / VGG16 / 3D-CNN com RGB-D)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554480"/>
            <a:ext cx="5166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233A"/>
                </a:solidFill>
                <a:latin typeface="Aptos"/>
              </a:rPr>
              <a:t>O alicerce público do MINDS-Libras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5166360" cy="2468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Criação e validação do principal dataset público de sinais isolados de Libras do país.</a:t>
            </a:r>
          </a:p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1.200 vídeos gravados em estúdio com 12 sinalizadores em 20 classes semânticas.</a:t>
            </a:r>
          </a:p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Avaliação comparativa de arquiteturas convolucionais clássicas com canais RGB e profundidade física (Kinect v2).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709160"/>
            <a:ext cx="5166360" cy="150876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709160"/>
            <a:ext cx="73152" cy="1508760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846320"/>
            <a:ext cx="4800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LIÇÃO-CHAVE PARA O SINALA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102352"/>
            <a:ext cx="48006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233A"/>
                </a:solidFill>
                <a:latin typeface="Aptos"/>
              </a:rPr>
              <a:t>O SINALA extrai a tridimensionalidade dos marcos puramente a partir de vídeo RGB de webcam via MediaPipe.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3912" y="118872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3912" y="1188720"/>
            <a:ext cx="73152" cy="1051560"/>
          </a:xfrm>
          <a:prstGeom prst="rect">
            <a:avLst/>
          </a:prstGeom>
          <a:solidFill>
            <a:srgbClr val="266E6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298448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93% ± 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719072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acurácia com fusão RGB + Depth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42832" y="118872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42832" y="1188720"/>
            <a:ext cx="73152" cy="1051560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298448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20 classes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719072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1.200 vídeos gravados por 12 sinalizadores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3912" y="2423160"/>
            <a:ext cx="5303520" cy="178308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53912" y="2423160"/>
            <a:ext cx="73152" cy="1783080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560320"/>
            <a:ext cx="4892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233A"/>
                </a:solidFill>
                <a:latin typeface="Aptos"/>
              </a:rPr>
              <a:t>O que o SINALA herda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852928"/>
            <a:ext cx="489204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0F233A"/>
                </a:solidFill>
                <a:latin typeface="Aptos"/>
              </a:rPr>
              <a:t>O vocabulário oficial, as 20 classes padronizadas e a base de vídeos que sustentam o treinamento do SINALA.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3912" y="4389120"/>
            <a:ext cx="5303520" cy="1783080"/>
          </a:xfrm>
          <a:prstGeom prst="rect">
            <a:avLst/>
          </a:prstGeom>
          <a:solidFill>
            <a:srgbClr val="FFFDF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53912" y="4389120"/>
            <a:ext cx="73152" cy="1783080"/>
          </a:xfrm>
          <a:prstGeom prst="rect">
            <a:avLst/>
          </a:prstGeom>
          <a:solidFill>
            <a:srgbClr val="59636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526280"/>
            <a:ext cx="4892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233A"/>
                </a:solidFill>
                <a:latin typeface="Aptos"/>
              </a:rPr>
              <a:t>Limitação que precisamos superar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818888"/>
            <a:ext cx="489204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0F233A"/>
                </a:solidFill>
                <a:latin typeface="Aptos"/>
              </a:rPr>
              <a:t>O melhor desempenho dependia do canal de profundidade capturado pelo sensor físico Kinect v2 (descontinuado).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46520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640080" cy="256032"/>
          </a:xfrm>
          <a:prstGeom prst="rect">
            <a:avLst/>
          </a:prstGeom>
          <a:solidFill>
            <a:srgbClr val="F1F5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1">
                <a:solidFill>
                  <a:srgbClr val="1F4E79"/>
                </a:solidFill>
                <a:latin typeface="Aptos"/>
              </a:rPr>
              <a:t>REF.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34747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F233A"/>
                </a:solidFill>
                <a:latin typeface="Aptos"/>
              </a:rPr>
              <a:t>Rego, de Morais e Almeida (2025)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384048"/>
            <a:ext cx="350215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0">
                <a:solidFill>
                  <a:srgbClr val="64748B"/>
                </a:solidFill>
                <a:latin typeface="Aptos"/>
              </a:rPr>
              <a:t>IEEE Access • UFC / IFCE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94944"/>
            <a:ext cx="1072591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Brazilian Sign Language Recognition Using Deep Learning Based on Fast Fourier Transform and Kinematic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24128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1901952" cy="237744"/>
          </a:xfrm>
          <a:prstGeom prst="rect">
            <a:avLst/>
          </a:prstGeom>
          <a:solidFill>
            <a:srgbClr val="F1F5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1901952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1">
                <a:solidFill>
                  <a:srgbClr val="0F233A"/>
                </a:solidFill>
                <a:latin typeface="Aptos"/>
              </a:rPr>
              <a:t>DERIVADAS CINEMÁTICAS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24912" y="1188720"/>
            <a:ext cx="5310835" cy="237744"/>
          </a:xfrm>
          <a:prstGeom prst="rect">
            <a:avLst/>
          </a:prstGeom>
          <a:solidFill>
            <a:srgbClr val="EFF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16352" y="1234440"/>
            <a:ext cx="5127955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F4E79"/>
                </a:solidFill>
                <a:latin typeface="Aptos"/>
              </a:rPr>
              <a:t>MODELO: LSTM / BiLSTM + FFT Adaptativa de Janela Deslizante + Cinemática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554480"/>
            <a:ext cx="5166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233A"/>
                </a:solidFill>
                <a:latin typeface="Aptos"/>
              </a:rPr>
              <a:t>Frequência e cinemática nas trajetórias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5166360" cy="2468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Enriquecimento de trajetórias esqueléticas com derivadas de velocidade e aceleração articular.</a:t>
            </a:r>
          </a:p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Extração de coeficientes espectrais em frequência via Fast Fourier Transform (FFT) adaptativa.</a:t>
            </a:r>
          </a:p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Avaliação no MINDS-Libras comparando redes recorrentes com e sem características cinemáticas.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709160"/>
            <a:ext cx="5166360" cy="150876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709160"/>
            <a:ext cx="73152" cy="1508760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846320"/>
            <a:ext cx="4800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LIÇÃO-CHAVE PARA O SINALA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102352"/>
            <a:ext cx="48006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233A"/>
                </a:solidFill>
                <a:latin typeface="Aptos"/>
              </a:rPr>
              <a:t>A memória interna da GRU no SINALA captura o ritmo temporal das transições com latência de apenas 1,4 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3912" y="118872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3912" y="1188720"/>
            <a:ext cx="73152" cy="1051560"/>
          </a:xfrm>
          <a:prstGeom prst="rect">
            <a:avLst/>
          </a:prstGeom>
          <a:solidFill>
            <a:srgbClr val="266E6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298448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92,0%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719072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acurácia global no MINDS-Libras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42832" y="118872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42832" y="1188720"/>
            <a:ext cx="73152" cy="1051560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298448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+8,0%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719072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ganho sobre a LSTM padrão (84%)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3912" y="2423160"/>
            <a:ext cx="5303520" cy="178308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53912" y="2423160"/>
            <a:ext cx="73152" cy="1783080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560320"/>
            <a:ext cx="4892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233A"/>
                </a:solidFill>
                <a:latin typeface="Aptos"/>
              </a:rPr>
              <a:t>O que o SINALA herda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852928"/>
            <a:ext cx="489204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0F233A"/>
                </a:solidFill>
                <a:latin typeface="Aptos"/>
              </a:rPr>
              <a:t>A comprovação de que derivadas temporais de movimento aumentam a discriminação de sinais complexos.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3912" y="4389120"/>
            <a:ext cx="5303520" cy="1783080"/>
          </a:xfrm>
          <a:prstGeom prst="rect">
            <a:avLst/>
          </a:prstGeom>
          <a:solidFill>
            <a:srgbClr val="FFFDF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53912" y="4389120"/>
            <a:ext cx="73152" cy="1783080"/>
          </a:xfrm>
          <a:prstGeom prst="rect">
            <a:avLst/>
          </a:prstGeom>
          <a:solidFill>
            <a:srgbClr val="59636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526280"/>
            <a:ext cx="4892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233A"/>
                </a:solidFill>
                <a:latin typeface="Aptos"/>
              </a:rPr>
              <a:t>Limitação que precisamos superar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818888"/>
            <a:ext cx="489204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0F233A"/>
                </a:solidFill>
                <a:latin typeface="Aptos"/>
              </a:rPr>
              <a:t>A janela deslizante da FFT impõe latência de acumulação de amostras antes de produzir os coeficientes.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46520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O que a literatura constrói em conjunto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68096"/>
            <a:ext cx="96012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0">
                <a:solidFill>
                  <a:srgbClr val="64748B"/>
                </a:solidFill>
                <a:latin typeface="Aptos"/>
              </a:rPr>
              <a:t>Quadro sinótico dos 10 estudos brasileiros analisados com o MODELO UTILIZADO em destaque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5912" cy="292608"/>
          </a:xfrm>
          <a:prstGeom prst="rect">
            <a:avLst/>
          </a:prstGeom>
          <a:solidFill>
            <a:srgbClr val="0F233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35024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Aptos"/>
              </a:rPr>
              <a:t>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335024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Aptos"/>
              </a:rPr>
              <a:t>DOMÍNIO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335024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1F4E79"/>
                </a:solidFill>
                <a:latin typeface="Aptos"/>
              </a:rPr>
              <a:t>MODELO UTILIZADO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335024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266E6E"/>
                </a:solidFill>
                <a:latin typeface="Aptos"/>
              </a:rPr>
              <a:t>RESULTADO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335024"/>
            <a:ext cx="26517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Aptos"/>
              </a:rPr>
              <a:t>CONTRIBUIÇÃO AO SINALA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591056"/>
            <a:ext cx="10725912" cy="402336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682496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0F233A"/>
                </a:solidFill>
                <a:latin typeface="Aptos"/>
              </a:rPr>
              <a:t>Furtado 2023 [IEEE]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1682496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Alfabeto Libras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682496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Contornos CDD + Distância Euclidiana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682496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266E6E"/>
                </a:solidFill>
                <a:latin typeface="Aptos"/>
              </a:rPr>
              <a:t>96,05%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682496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0F233A"/>
                </a:solidFill>
                <a:latin typeface="Aptos"/>
              </a:rPr>
              <a:t>Base de captura markerless em webcam comum.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1993392"/>
            <a:ext cx="10725912" cy="402336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08483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0F233A"/>
                </a:solidFill>
                <a:latin typeface="Aptos"/>
              </a:rPr>
              <a:t>Feliciano 2023 [IEEE]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208483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Palavras Libras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084832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MediaPipe Hands + MLP / Keras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08483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266E6E"/>
                </a:solidFill>
                <a:latin typeface="Aptos"/>
              </a:rPr>
              <a:t>92–98%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08483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0F233A"/>
                </a:solidFill>
                <a:latin typeface="Aptos"/>
              </a:rPr>
              <a:t>Validação de landmarks contra ruídos de fundo.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2395728"/>
            <a:ext cx="10725912" cy="402336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248716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0F233A"/>
                </a:solidFill>
                <a:latin typeface="Aptos"/>
              </a:rPr>
              <a:t>Arcanjo 2024 [SBC]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248716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MINDS-Libras (20 cl.)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2487168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MediaPipe + Ângulos 3D + FastDTW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48716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266E6E"/>
                </a:solidFill>
                <a:latin typeface="Aptos"/>
              </a:rPr>
              <a:t>86% LOOCV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2487168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0F233A"/>
                </a:solidFill>
                <a:latin typeface="Aptos"/>
              </a:rPr>
              <a:t>Diretriz inegociável de split estrito por sinalizador.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2798064"/>
            <a:ext cx="10725912" cy="402336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2889504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0F233A"/>
                </a:solidFill>
                <a:latin typeface="Aptos"/>
              </a:rPr>
              <a:t>Castro 2023 [Elsevier]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2889504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Libras Contínuo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288950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Multi-Stream 3D CNN + GAN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2889504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266E6E"/>
                </a:solidFill>
                <a:latin typeface="Aptos"/>
              </a:rPr>
              <a:t>91% (F1 0,90)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2889504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0F233A"/>
                </a:solidFill>
                <a:latin typeface="Aptos"/>
              </a:rPr>
              <a:t>Inspiração 3D; optamos por landmarks leves em CPU.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3200400"/>
            <a:ext cx="10725912" cy="402336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329184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0F233A"/>
                </a:solidFill>
                <a:latin typeface="Aptos"/>
              </a:rPr>
              <a:t>Rodrigues 2025 [SBC]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329184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Sinais Dinâmicos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329184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Benchmark de 5 CNNs 2D (ResNet18)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329184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266E6E"/>
                </a:solidFill>
                <a:latin typeface="Aptos"/>
              </a:rPr>
              <a:t>74,29%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329184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0F233A"/>
                </a:solidFill>
                <a:latin typeface="Aptos"/>
              </a:rPr>
              <a:t>Evidência de que redes 2D exigem camada temporal.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3602736"/>
            <a:ext cx="10725912" cy="402336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3694176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0F233A"/>
                </a:solidFill>
                <a:latin typeface="Aptos"/>
              </a:rPr>
              <a:t>Pereira 2026 [SBC]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60320" y="3694176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Glosa ↔ Português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3694176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BERTimbau Siamês + Contrastive Loss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3694176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266E6E"/>
                </a:solidFill>
                <a:latin typeface="Aptos"/>
              </a:rPr>
              <a:t>R@1 98,77%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3694176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0F233A"/>
                </a:solidFill>
                <a:latin typeface="Aptos"/>
              </a:rPr>
              <a:t>Fundamentação do Nível 3 de tradução semântica.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4005072"/>
            <a:ext cx="10725912" cy="402336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4096511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0F233A"/>
                </a:solidFill>
                <a:latin typeface="Aptos"/>
              </a:rPr>
              <a:t>Silva 2020 [ACM]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60320" y="4096511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Libras na Saúde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97680" y="4096511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Two-Stream 3D CNN (RGB + Flow TV-L1)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0" y="4096511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266E6E"/>
                </a:solidFill>
                <a:latin typeface="Aptos"/>
              </a:rPr>
              <a:t>88,9%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4096511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0F233A"/>
                </a:solidFill>
                <a:latin typeface="Aptos"/>
              </a:rPr>
              <a:t>Relevância de separar aparência e dinâmica de fluxo.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" y="4407408"/>
            <a:ext cx="10725912" cy="402336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449884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0F233A"/>
                </a:solidFill>
                <a:latin typeface="Aptos"/>
              </a:rPr>
              <a:t>Passos 2021 [IEEE]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60320" y="449884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Compressão Vídeo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97680" y="4498848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Gait Energy Image (GEI) + PCA/LDA + SVM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0" y="449884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266E6E"/>
                </a:solidFill>
                <a:latin typeface="Aptos"/>
              </a:rPr>
              <a:t>98,8%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0" y="4498848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0F233A"/>
                </a:solidFill>
                <a:latin typeface="Aptos"/>
              </a:rPr>
              <a:t>Estratégia de colapsar redundâncias temporais.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4809744"/>
            <a:ext cx="10725912" cy="402336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960" y="4901184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0F233A"/>
                </a:solidFill>
                <a:latin typeface="Aptos"/>
              </a:rPr>
              <a:t>Rezende 2021 [Springer]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60320" y="4901184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MINDS-Libras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97680" y="490118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CNNs 2D/3D Multimodais (RGB + Depth)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0" y="4901184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266E6E"/>
                </a:solidFill>
                <a:latin typeface="Aptos"/>
              </a:rPr>
              <a:t>93% ± 2%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0" y="4901184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0F233A"/>
                </a:solidFill>
                <a:latin typeface="Aptos"/>
              </a:rPr>
              <a:t>Dataset oficial e vocabulário adotados no SINALA.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1520" y="5212080"/>
            <a:ext cx="10725912" cy="402336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2960" y="530352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0F233A"/>
                </a:solidFill>
                <a:latin typeface="Aptos"/>
              </a:rPr>
              <a:t>Rego 2025 [IEEE]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560320" y="530352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MINDS-Libras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97680" y="530352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LSTM/BiLSTM + FFT Adaptativa + Cinemática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0" y="530352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266E6E"/>
                </a:solidFill>
                <a:latin typeface="Aptos"/>
              </a:rPr>
              <a:t>92,0%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86800" y="530352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0F233A"/>
                </a:solidFill>
                <a:latin typeface="Aptos"/>
              </a:rPr>
              <a:t>Enriquecimento de trajetórias com derivadas de movimento.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5687568"/>
            <a:ext cx="10725912" cy="64008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1520" y="5687568"/>
            <a:ext cx="73152" cy="640080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60120" y="5742432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Conclusão Geral da Revisão: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0120" y="5943600"/>
            <a:ext cx="10378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233A"/>
                </a:solidFill>
                <a:latin typeface="Aptos"/>
              </a:rPr>
              <a:t>O SINALA se posiciona no ponto de convergência ótimo: landmarks anatômicos leves (MediaPipe), modelagem temporal explícita em CPU (GRU) e validação rigorosa inter-sinalizador.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972800" y="6446520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Posicionamento do projeto SINALA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68096"/>
            <a:ext cx="96012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0">
                <a:solidFill>
                  <a:srgbClr val="64748B"/>
                </a:solidFill>
                <a:latin typeface="Aptos"/>
              </a:rPr>
              <a:t>O diferencial não é 'ter 98%'. É saber exatamente o que a métrica significa.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3429000" cy="25146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3429000" cy="54864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600200"/>
            <a:ext cx="411480" cy="292608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55064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233A"/>
                </a:solidFill>
                <a:latin typeface="Aptos"/>
              </a:rPr>
              <a:t>Generalização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306324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33A"/>
                </a:solidFill>
                <a:latin typeface="Aptos"/>
              </a:rPr>
              <a:t>Separar treino e teste por sinalizador para medir desempenho com indivíduos nunca vistos. A literatura (Arcanjo et al.) prova que o split aleatório infla artificialmente os resultados.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3429000" cy="25146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3429000" cy="54864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600200"/>
            <a:ext cx="411480" cy="292608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655064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05740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233A"/>
                </a:solidFill>
                <a:latin typeface="Aptos"/>
              </a:rPr>
              <a:t>Baixo Custo &amp; Tempo Real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423160"/>
            <a:ext cx="306324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33A"/>
                </a:solidFill>
                <a:latin typeface="Aptos"/>
              </a:rPr>
              <a:t>Priorizar vetores esqueléticos + GRU leve em CPU para manter o sistema viável em computadores comuns (30 FPS / 1,4 ms por predição), dispensando hardware caro.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417320"/>
            <a:ext cx="3429000" cy="25146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1417320"/>
            <a:ext cx="3429000" cy="54864"/>
          </a:xfrm>
          <a:prstGeom prst="rect">
            <a:avLst/>
          </a:prstGeom>
          <a:solidFill>
            <a:srgbClr val="266E6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59" y="1600200"/>
            <a:ext cx="411480" cy="292608"/>
          </a:xfrm>
          <a:prstGeom prst="rect">
            <a:avLst/>
          </a:prstGeom>
          <a:solidFill>
            <a:srgbClr val="266E6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59" y="1655064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59" y="205740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233A"/>
                </a:solidFill>
                <a:latin typeface="Aptos"/>
              </a:rPr>
              <a:t>Evolução Modular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59" y="2423160"/>
            <a:ext cx="306324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33A"/>
                </a:solidFill>
                <a:latin typeface="Aptos"/>
              </a:rPr>
              <a:t>Começar com sinais isolados e avançar de forma planejada para continuidade, multimodalidade e tradução semântica via modelos de linguagem (Pereira et al.).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114800"/>
            <a:ext cx="10725912" cy="132588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114800"/>
            <a:ext cx="91440" cy="1325880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5840" y="4297680"/>
            <a:ext cx="1371600" cy="256032"/>
          </a:xfrm>
          <a:prstGeom prst="rect">
            <a:avLst/>
          </a:prstGeom>
          <a:solidFill>
            <a:srgbClr val="1F4E7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343400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MODELO SINALA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4279392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233A"/>
                </a:solidFill>
                <a:latin typeface="Aptos"/>
              </a:rPr>
              <a:t>MediaPipe Hands (128 features)  +  GRU Recorrente (Dropout / AdamW)  +  Buffer de Histerese Temporal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466344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Operação 100% em CPU convencional a 29,8 FPS  |  Latência de inferência de 1,4 ms  |  Base técnica para transição à Libras contínua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76072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0F233A"/>
                </a:solidFill>
                <a:latin typeface="Aptos"/>
              </a:rPr>
              <a:t>Obrigado!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46520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SINALA — Revisão de Literatura</dc:title>
  <dc:subject>Revisão de literatura e posicionamento metodológico do MVP</dc:subject>
  <dc:creator>Daniel Maffezzoli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