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70" d="100"/>
          <a:sy n="170" d="100"/>
        </p:scale>
        <p:origin x="144" y="-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8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SINALA  •  Revisão Sistemática de Literatura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45720"/>
            <a:ext cx="3520440" cy="3520440"/>
          </a:xfrm>
          <a:prstGeom prst="ellipse">
            <a:avLst/>
          </a:prstGeom>
          <a:solidFill>
            <a:srgbClr val="0052FF">
              <a:alpha val="28000"/>
            </a:srgbClr>
          </a:solidFill>
          <a:ln w="12700">
            <a:solidFill>
              <a:srgbClr val="005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281160" y="3886200"/>
            <a:ext cx="2788920" cy="27889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 detecção de sinais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à tradução em tempo real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</a:t>
            </a:r>
            <a:r>
              <a:rPr lang="en-US" sz="12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Literatura e posicionamento metodológico do MVP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005072"/>
            <a:ext cx="6035040" cy="0"/>
          </a:xfrm>
          <a:prstGeom prst="line">
            <a:avLst/>
          </a:prstGeom>
          <a:noFill/>
          <a:ln w="1778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5998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0" dirty="0">
                <a:solidFill>
                  <a:schemeClr val="bg2"/>
                </a:solidFill>
              </a:rPr>
              <a:t>Daniel Maffezzoli </a:t>
            </a: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 </a:t>
            </a:r>
            <a:r>
              <a:rPr lang="en-US" sz="8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</a:t>
            </a: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Computacional</a:t>
            </a:r>
            <a:r>
              <a:rPr lang="en-US" sz="820" dirty="0">
                <a:solidFill>
                  <a:schemeClr val="bg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Problema e estratégia do SINALA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evolução em três níveis, do reconhecimento isolado à tradução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524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971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3152" cy="1005840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95528" y="1563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 mi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brasileiros com deficiência auditiva citados na revisão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94360" y="2670048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6F9FC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95528" y="28712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28163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Barreira diária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95528" y="3200400"/>
            <a:ext cx="2569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em serviços, atendimento e saúde.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95528" y="4087368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51560" y="4032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Captura acessível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95528" y="4416552"/>
            <a:ext cx="2569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Evitar luvas, marcadores e hardware proprietário.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FFF7E6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95528" y="53035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51560" y="524865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Robustez real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795528" y="5632704"/>
            <a:ext cx="2569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Luz, oclusões, fundos e pessoas diferentes desafiam o modelo.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77640" y="1389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kern="0" spc="120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 INCREMENTAL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4023360" y="1828800"/>
            <a:ext cx="2148840" cy="2880360"/>
          </a:xfrm>
          <a:prstGeom prst="roundRect">
            <a:avLst>
              <a:gd name="adj" fmla="val 5106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206240" y="2029968"/>
            <a:ext cx="438912" cy="43891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206240" y="212140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0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MVP atual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3218688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Landmarks + GRU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Sinais isolados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inter-sinalizador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163056" y="2907792"/>
            <a:ext cx="347472" cy="47548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73952" y="1828800"/>
            <a:ext cx="2148840" cy="2880360"/>
          </a:xfrm>
          <a:prstGeom prst="roundRect">
            <a:avLst>
              <a:gd name="adj" fmla="val 5106"/>
            </a:avLst>
          </a:prstGeom>
          <a:solidFill>
            <a:srgbClr val="E6F9FC"/>
          </a:solidFill>
          <a:ln w="10160">
            <a:solidFill>
              <a:srgbClr val="E6F9FC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656832" y="202996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656832" y="212140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56832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Sinais contínuos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56832" y="3218688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Segmentação temporal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Mãos + pose + face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Fusão multimodal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613648" y="2907792"/>
            <a:ext cx="347472" cy="47548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924544" y="1828800"/>
            <a:ext cx="2148840" cy="2880360"/>
          </a:xfrm>
          <a:prstGeom prst="roundRect">
            <a:avLst>
              <a:gd name="adj" fmla="val 5106"/>
            </a:avLst>
          </a:prstGeom>
          <a:solidFill>
            <a:srgbClr val="EAFBF5"/>
          </a:solidFill>
          <a:ln w="10160">
            <a:solidFill>
              <a:srgbClr val="EAFBF5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107424" y="2029968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107424" y="212140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07424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Tradução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07424" y="3218688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Glosas → Português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semântico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Texto/voz em tempo real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4005072" y="5166360"/>
            <a:ext cx="7278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Princípio: avançar em complexidade sem sacrificar generalização e latência.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1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Furtado, de Oliveira e Shirmohammadi (2023)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I2MTC • IME / LNCC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and Markerless Visual Recognition of Brazilian Sign Language Alphabet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8368" y="140360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MARCADORES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Acessibilidade começa na captura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" y="2423160"/>
            <a:ext cx="50749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Câmera RGB convencional, sem luvas ou sensores vestíveis.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dactilologia de Libras com descritores de contorno (CDD).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Robustez geométrica a escala e distância.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6565392" y="1417320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565392" y="141732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766560" y="15636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96,05%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1947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global reportada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732520" y="141732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732520" y="1417320"/>
            <a:ext cx="73152" cy="1005840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933688" y="15636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+6,4%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33688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 vs. cinco métodos correlatos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565392" y="2788920"/>
            <a:ext cx="4315968" cy="1143000"/>
          </a:xfrm>
          <a:prstGeom prst="roundRect">
            <a:avLst>
              <a:gd name="adj" fmla="val 9600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766560" y="2990088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02259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o SINALA herda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766560" y="3319272"/>
            <a:ext cx="3913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premissa de um sistema assistivo natural, barato e sem instrumentação invasiva.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565392" y="4160520"/>
            <a:ext cx="4315968" cy="1143000"/>
          </a:xfrm>
          <a:prstGeom prst="roundRect">
            <a:avLst>
              <a:gd name="adj" fmla="val 9600"/>
            </a:avLst>
          </a:prstGeom>
          <a:solidFill>
            <a:srgbClr val="FFF7E6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766560" y="43616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022592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Limitação que precisamos superar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766560" y="4690872"/>
            <a:ext cx="3913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Gestos estáticos não representam sinais completos: falta modelagem temporal de trajetórias.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94360" y="5074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Lição-chave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" y="537667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Reconhecer Libras real exige capturar movimento — não só forma.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2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Feliciano et al. (2023)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CISTI • IFPE / UFPE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Recognition of Static or Dynamic LIBRAS Words in Complex Background Environments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Landmarks reduzem o ruído visual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Pipeline: OpenCV  →  MediaPipe  →  TensorFlow / Keras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" y="2441448"/>
            <a:ext cx="960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24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3504" y="25968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36776" y="2560320"/>
            <a:ext cx="292608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874520" y="2441448"/>
            <a:ext cx="960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24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874520" y="25968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2560320"/>
            <a:ext cx="292608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310128" y="2441448"/>
            <a:ext cx="960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310128" y="25968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2560320"/>
            <a:ext cx="292608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910328" y="2441448"/>
            <a:ext cx="960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10328" y="25968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" y="3337560"/>
            <a:ext cx="5212080" cy="1216152"/>
          </a:xfrm>
          <a:prstGeom prst="roundRect">
            <a:avLst>
              <a:gd name="adj" fmla="val 9023"/>
            </a:avLst>
          </a:prstGeom>
          <a:solidFill>
            <a:srgbClr val="E6F9FC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04672" y="35387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060704" y="34838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 que importa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04672" y="3867912"/>
            <a:ext cx="48097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pontos articulares isolam o sinalizador de parte do fundo e sustentam a escolha do MediaPipe no MVP.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44652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kern="0" spc="120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DESEMPENHO REPORTADO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446520" y="1719072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446520" y="1719072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647688" y="1865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92–98%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47688" y="2249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normal / laboratório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732520" y="1719072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8732520" y="1719072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933688" y="1865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33688" y="2249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luminosidade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46520" y="292608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46520" y="2926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647688" y="3072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≈82%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47688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fundos severamente poluídos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732520" y="29260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DECEC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8933688" y="312724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189720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Gargalo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8933688" y="345643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blur e perda de tracking em movimentos rápidos.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446520" y="4315968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647688" y="4517136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903720" y="44622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Lição para o MVP</a:t>
            </a:r>
            <a:endParaRPr lang="en-US" sz="1130" dirty="0"/>
          </a:p>
        </p:txBody>
      </p:sp>
      <p:sp>
        <p:nvSpPr>
          <p:cNvPr id="45" name="Text 43"/>
          <p:cNvSpPr/>
          <p:nvPr/>
        </p:nvSpPr>
        <p:spPr>
          <a:xfrm>
            <a:off x="6647688" y="4846320"/>
            <a:ext cx="3803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temporal de estabilidade e máscaras de presença são essenciais para lidar com falhas de landmarks.</a:t>
            </a:r>
            <a:endParaRPr lang="en-US" sz="88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3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Arcanjo et al. (2024)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SBC WebMedia • PUC Minas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Time-Aware Recognition of Brazilian Sign Language Based on Dynamic Time Warping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34416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8368" y="13761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MAIS CRÍTICO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split muda a história do resultado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" y="226771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dataset do MVP: MINDS-Libras • 20 classes • MediaPipe Holistic + FastDTW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629400" y="1353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kern="0" spc="120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662940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aleatório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2212848"/>
            <a:ext cx="4069080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629400" y="2212848"/>
            <a:ext cx="3986784" cy="43891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235440" y="23042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98% ± 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2935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LOOCV por sinalizador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3300984"/>
            <a:ext cx="4069080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629400" y="3300984"/>
            <a:ext cx="3502152" cy="438912"/>
          </a:xfrm>
          <a:prstGeom prst="roundRect">
            <a:avLst>
              <a:gd name="adj" fmla="val 25000"/>
            </a:avLst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070848" y="3392424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86% ± 8%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" y="3017520"/>
            <a:ext cx="5394960" cy="1298448"/>
          </a:xfrm>
          <a:prstGeom prst="roundRect">
            <a:avLst>
              <a:gd name="adj" fmla="val 8451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04672" y="3218688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060704" y="316382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 que isso muda o projeto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04672" y="3547872"/>
            <a:ext cx="4992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Misturar vídeos da mesma pessoa em treino e teste pode inflar a impressão de desempenho. O SINALA adota split estrito por sinalizador.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629400" y="425196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FF7E6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830568" y="44531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086600" y="43982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Classe difícil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830568" y="4782312"/>
            <a:ext cx="3666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Banheiro × Acontecer: classes ambíguas chegaram a 47% em validação mais rigorosa.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03504" y="47548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Compromisso metodológico: generalizar para pessoas não vistas.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4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Castro, Guerra e Guimarães (2023)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Elsevier ESWA • UFMG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Translation of Sign Language with Multi-Stream 3D CNN and Generation of Artificial Depth Maps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Mais riqueza espacial — por um preço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3504" y="2084832"/>
            <a:ext cx="5349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RGB sem Kinect ou sensor físico de profundidade.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GANs geram mapas de profundidade artificiais.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CNN multi-stream combina mãos, face e velocidades articulares.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444752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47688" y="15910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91% ± 7%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47688" y="1975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global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732520" y="1444752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732520" y="1444752"/>
            <a:ext cx="73152" cy="1005840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933688" y="15910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0,90 ± 0,08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33688" y="1975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46520" y="2788920"/>
            <a:ext cx="4480560" cy="1051560"/>
          </a:xfrm>
          <a:prstGeom prst="roundRect">
            <a:avLst>
              <a:gd name="adj" fmla="val 10435"/>
            </a:avLst>
          </a:prstGeom>
          <a:solidFill>
            <a:srgbClr val="E6F9FC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647688" y="299008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03720" y="29352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Vantagem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647688" y="331927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Profundidade artificial acrescenta informação espacial sem hardware proprietário.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46520" y="4059936"/>
            <a:ext cx="4480560" cy="1051560"/>
          </a:xfrm>
          <a:prstGeom prst="roundRect">
            <a:avLst>
              <a:gd name="adj" fmla="val 10435"/>
            </a:avLst>
          </a:prstGeom>
          <a:solidFill>
            <a:srgbClr val="FFF7E6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647688" y="42611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Custo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647688" y="4590288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CNN + GAN aumentam o custo computacional e dificultam 30 FPS em CPU modesta.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03504" y="416052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804672" y="4361688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60704" y="430682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Decisão SINALA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04672" y="4690872"/>
            <a:ext cx="494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MVP em tempo real, landmarks + GRU oferecem um compromisso mais leve entre contexto temporal e latência.</a:t>
            </a:r>
            <a:endParaRPr lang="en-US" sz="8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5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Rodrigues et al. (2025)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SBC ENIAC • UNESC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Sign Recognition in Brazilian Sign Language Through Convolutional Neural Networks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CNNs 2D encontram um teto em sinais dinâmicos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3504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Benchmark: AlexNet • DenseNet121 • InceptionV3 • ResNet18 • VGG16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53796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kern="0" spc="120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RESULTADO REPORTADO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537960" y="1828800"/>
            <a:ext cx="4160520" cy="11430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12280" y="2084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ResNet18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32520" y="19933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74,29%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87968" y="2478024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03504" y="2615184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04672" y="28163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60704" y="276148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Leitura do benchmark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04672" y="3145536"/>
            <a:ext cx="5038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mais profundos não superaram a ResNet18 e sofreram sobreajuste com o tamanho do dataset.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37960" y="3310128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FDECEC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739128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95160" y="34564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problema central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739128" y="3840480"/>
            <a:ext cx="3758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Imagem estática não captura sozinho o contexto temporal que diferencia muitos sinais.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03504" y="4160520"/>
            <a:ext cx="10094976" cy="1188720"/>
          </a:xfrm>
          <a:prstGeom prst="roundRect">
            <a:avLst>
              <a:gd name="adj" fmla="val 9231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04672" y="4361688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060704" y="4306824"/>
            <a:ext cx="9436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Lição para a arquitetura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04672" y="469087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precisa de uma camada temporal explícita. GRU / LSTM entram como componente natural para modelar sequência e movimento.</a:t>
            </a:r>
            <a:endParaRPr lang="en-US" sz="8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7490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4069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6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417320" y="356616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Pereira et al. (2026)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393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SBC WICS • UFPel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85216" y="758952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Vector Space Mapping Between Brazilian Portuguese and Libras Glosses Using Siamese Models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8368" y="1403604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3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Reconhecer não basta: é preciso traduzir sentido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2542032"/>
            <a:ext cx="54406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vetorial compartilhado entre glosas de Libras e Português.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siamês com BERTimbau e aprendizado contrastivo.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 aproximar frases semanticamente equivalentes, não traduzir palavra a palavra.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389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kern="0" spc="12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SEMÂNTICA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6F9FC"/>
          </a:solidFill>
          <a:ln w="10160">
            <a:solidFill>
              <a:srgbClr val="E6F9FC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766560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GLOSAS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 LIBRAS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77072" y="2130552"/>
            <a:ext cx="566928" cy="54864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281160" y="187452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AFBF5"/>
          </a:solidFill>
          <a:ln w="10160">
            <a:solidFill>
              <a:srgbClr val="EAFBF5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464040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PORTUGUÊS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NATURAL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291840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EAFBF5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784848" y="3493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040880" y="343814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 que entra no roadmap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784848" y="3822192"/>
            <a:ext cx="4123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camada linguística que pode receber os sinais/glosas previstos pelo classificador visual.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583680" y="4553712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EAF0FF"/>
          </a:solidFill>
          <a:ln w="1016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784848" y="4754880"/>
            <a:ext cx="164592" cy="164592"/>
          </a:xfrm>
          <a:prstGeom prst="ellipse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040880" y="470001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Limite atual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784848" y="5084064"/>
            <a:ext cx="4123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 de um extrator visual prévio — exatamente a etapa que o MVP do SINALA busca consolidar.</a:t>
            </a:r>
            <a:endParaRPr lang="en-US" sz="88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a literatura constrói em conjunto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estudos, seis decisões que formam a arquitetura do SINALA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524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kern="0" spc="7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</a:t>
            </a:r>
            <a:endParaRPr lang="en-US" sz="710" dirty="0"/>
          </a:p>
        </p:txBody>
      </p:sp>
      <p:sp>
        <p:nvSpPr>
          <p:cNvPr id="6" name="Text 4"/>
          <p:cNvSpPr/>
          <p:nvPr/>
        </p:nvSpPr>
        <p:spPr>
          <a:xfrm>
            <a:off x="2514600" y="14447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kern="0" spc="7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5212080" y="14447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kern="0" spc="7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7863840" y="1444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kern="0" spc="7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CONTRIBUIÇÃO AO SINALA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Furtado 2023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606040" y="1892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sem marcadores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5303520" y="1892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 acessível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955280" y="18928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usabilidade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Feliciano 2023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06040" y="2560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Landmarks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30352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955280" y="2560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Robustez visual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94360" y="3090672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EAF0FF"/>
          </a:solidFill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5800" y="32278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Arcanjo 2024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606040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rigorosa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303520" y="3227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LOOCV por pessoa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955280" y="32278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Generalização real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94360" y="3758184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38953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Castro 2023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606040" y="38953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Profundidade + 3D CNN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303520" y="3895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Multi-stream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955280" y="38953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Inspiração multimodal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94360" y="4425696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85800" y="45628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Rodrigues 2025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606040" y="45628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CNNs em sinais dinâmicos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5303520" y="4562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ResNet18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955280" y="45628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Necessidade temporal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94360" y="5093208"/>
            <a:ext cx="10991088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8580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Pereira 2026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606040" y="5230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Semântica Libras ↔ PT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303520" y="5230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BERTimbau siamês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7955280" y="5230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Tradução futura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603504" y="5925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5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geral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627632" y="584301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MVP se posiciona no ponto de encontro entre landmarks, modelagem temporal leve e validação inter-sinalizador.</a:t>
            </a:r>
            <a:endParaRPr lang="en-US" sz="12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Posicionamento do projeto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diferencial não é “ter 98%”. É saber o que esse número significa.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45952" cy="0"/>
          </a:xfrm>
          <a:prstGeom prst="line">
            <a:avLst/>
          </a:prstGeom>
          <a:noFill/>
          <a:ln w="15240">
            <a:solidFill>
              <a:srgbClr val="005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21792" y="1600200"/>
            <a:ext cx="3063240" cy="2240280"/>
          </a:xfrm>
          <a:prstGeom prst="roundRect">
            <a:avLst>
              <a:gd name="adj" fmla="val 4898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0392" y="18288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2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Generalização real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889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treino e teste por sinalizador para medir desempenho em pessoas nunca vistas.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87952" y="1600200"/>
            <a:ext cx="3063240" cy="2240280"/>
          </a:xfrm>
          <a:prstGeom prst="roundRect">
            <a:avLst>
              <a:gd name="adj" fmla="val 4898"/>
            </a:avLst>
          </a:prstGeom>
          <a:solidFill>
            <a:srgbClr val="E6F9FC"/>
          </a:solidFill>
          <a:ln w="10160">
            <a:solidFill>
              <a:srgbClr val="E6F9FC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416552" y="18288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6552" y="2331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Baixo custo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16552" y="2889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landmarks + GRU para manter o sistema viável em hardware comum e em tempo real.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54112" y="1600200"/>
            <a:ext cx="3063240" cy="2240280"/>
          </a:xfrm>
          <a:prstGeom prst="roundRect">
            <a:avLst>
              <a:gd name="adj" fmla="val 4898"/>
            </a:avLst>
          </a:prstGeom>
          <a:solidFill>
            <a:srgbClr val="EAFBF5"/>
          </a:solidFill>
          <a:ln w="10160">
            <a:solidFill>
              <a:srgbClr val="EAFBF5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982712" y="18288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82712" y="2331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Evolução modular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82712" y="2889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Começar com sinais isolados e avançar para continuidade, multimodalidade e tradução semântica.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4251960"/>
            <a:ext cx="10195560" cy="1143000"/>
          </a:xfrm>
          <a:prstGeom prst="roundRect">
            <a:avLst>
              <a:gd name="adj" fmla="val 12800"/>
            </a:avLst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96112" y="452628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ATUAL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39696" y="4407408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Landmarks  +  GRU  +  split inter-sinalizador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48840" y="48737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técnica para chegar a Libras contínua e tradução em tempo real.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253728" y="459943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 w="12700">
            <a:solidFill>
              <a:srgbClr val="005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317736" y="463143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SINALA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21792" y="5806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92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Obrigado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1060</Words>
  <Application>Microsoft Macintosh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Projeto SINALA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SINALA: Da detecção de sinais à tradução em tempo real</dc:title>
  <dc:subject>SINALA - Revisão Sistemática de Literatura</dc:subject>
  <dc:creator>OpenAI</dc:creator>
  <cp:lastModifiedBy>DANIEL MAFFEZZOLI</cp:lastModifiedBy>
  <cp:revision>2</cp:revision>
  <dcterms:created xsi:type="dcterms:W3CDTF">2026-09-04T14:51:55Z</dcterms:created>
  <dcterms:modified xsi:type="dcterms:W3CDTF">2026-09-04T15:05:23Z</dcterms:modified>
</cp:coreProperties>
</file>